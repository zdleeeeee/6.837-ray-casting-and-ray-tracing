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6" r:id="rId2"/>
    <p:sldId id="257" r:id="rId3"/>
    <p:sldId id="259" r:id="rId4"/>
    <p:sldId id="263" r:id="rId5"/>
    <p:sldId id="299" r:id="rId6"/>
    <p:sldId id="300" r:id="rId7"/>
    <p:sldId id="303" r:id="rId8"/>
    <p:sldId id="307" r:id="rId9"/>
    <p:sldId id="308" r:id="rId10"/>
    <p:sldId id="330" r:id="rId11"/>
    <p:sldId id="311" r:id="rId12"/>
    <p:sldId id="312" r:id="rId13"/>
    <p:sldId id="313" r:id="rId14"/>
    <p:sldId id="329" r:id="rId15"/>
    <p:sldId id="264" r:id="rId16"/>
    <p:sldId id="302" r:id="rId17"/>
    <p:sldId id="314" r:id="rId18"/>
    <p:sldId id="315" r:id="rId19"/>
    <p:sldId id="331" r:id="rId20"/>
    <p:sldId id="316" r:id="rId21"/>
    <p:sldId id="310" r:id="rId22"/>
    <p:sldId id="317" r:id="rId23"/>
    <p:sldId id="318" r:id="rId24"/>
    <p:sldId id="268" r:id="rId25"/>
    <p:sldId id="297" r:id="rId26"/>
    <p:sldId id="298" r:id="rId27"/>
    <p:sldId id="295" r:id="rId28"/>
    <p:sldId id="274" r:id="rId29"/>
    <p:sldId id="351" r:id="rId30"/>
    <p:sldId id="261" r:id="rId31"/>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874" autoAdjust="0"/>
  </p:normalViewPr>
  <p:slideViewPr>
    <p:cSldViewPr snapToGrid="0">
      <p:cViewPr varScale="1">
        <p:scale>
          <a:sx n="79" d="100"/>
          <a:sy n="79" d="100"/>
        </p:scale>
        <p:origin x="4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2026/5/1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这个项目本质上是让你们自己写一个最基础的 </a:t>
            </a:r>
            <a:r>
              <a:rPr lang="en-US" altLang="zh-CN" sz="1200" b="1" i="0" kern="1200" dirty="0">
                <a:solidFill>
                  <a:schemeClr val="tx1"/>
                </a:solidFill>
                <a:effectLst/>
                <a:latin typeface="+mn-lt"/>
                <a:ea typeface="+mn-ea"/>
                <a:cs typeface="+mn-cs"/>
              </a:rPr>
              <a:t>ray tracer</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先区分两个概念：</a:t>
            </a:r>
          </a:p>
          <a:p>
            <a:r>
              <a:rPr lang="en-US" altLang="zh-CN" sz="1200" b="1" i="0" kern="1200" dirty="0">
                <a:solidFill>
                  <a:schemeClr val="tx1"/>
                </a:solidFill>
                <a:effectLst/>
                <a:latin typeface="+mn-lt"/>
                <a:ea typeface="+mn-ea"/>
                <a:cs typeface="+mn-cs"/>
              </a:rPr>
              <a:t>ray casting</a:t>
            </a:r>
            <a:r>
              <a:rPr lang="zh-CN" altLang="en-US" sz="1200" b="0" i="0" kern="1200" dirty="0">
                <a:solidFill>
                  <a:schemeClr val="tx1"/>
                </a:solidFill>
                <a:effectLst/>
                <a:latin typeface="+mn-lt"/>
                <a:ea typeface="+mn-ea"/>
                <a:cs typeface="+mn-cs"/>
              </a:rPr>
              <a:t>：每个像素打一条光线，只算这条光线第一次打到哪里。</a:t>
            </a:r>
          </a:p>
          <a:p>
            <a:r>
              <a:rPr lang="en-US" altLang="zh-CN" sz="1200" b="1" i="0" kern="1200" dirty="0">
                <a:solidFill>
                  <a:schemeClr val="tx1"/>
                </a:solidFill>
                <a:effectLst/>
                <a:latin typeface="+mn-lt"/>
                <a:ea typeface="+mn-ea"/>
                <a:cs typeface="+mn-cs"/>
              </a:rPr>
              <a:t>ray tracing</a:t>
            </a:r>
            <a:r>
              <a:rPr lang="zh-CN" altLang="en-US" sz="1200" b="0" i="0" kern="1200" dirty="0">
                <a:solidFill>
                  <a:schemeClr val="tx1"/>
                </a:solidFill>
                <a:effectLst/>
                <a:latin typeface="+mn-lt"/>
                <a:ea typeface="+mn-ea"/>
                <a:cs typeface="+mn-cs"/>
              </a:rPr>
              <a:t>：在 </a:t>
            </a:r>
            <a:r>
              <a:rPr lang="en-US" altLang="zh-CN" sz="1200" b="0" i="0" kern="1200" dirty="0">
                <a:solidFill>
                  <a:schemeClr val="tx1"/>
                </a:solidFill>
                <a:effectLst/>
                <a:latin typeface="+mn-lt"/>
                <a:ea typeface="+mn-ea"/>
                <a:cs typeface="+mn-cs"/>
              </a:rPr>
              <a:t>ray casting </a:t>
            </a:r>
            <a:r>
              <a:rPr lang="zh-CN" altLang="en-US" sz="1200" b="0" i="0" kern="1200" dirty="0">
                <a:solidFill>
                  <a:schemeClr val="tx1"/>
                </a:solidFill>
                <a:effectLst/>
                <a:latin typeface="+mn-lt"/>
                <a:ea typeface="+mn-ea"/>
                <a:cs typeface="+mn-cs"/>
              </a:rPr>
              <a:t>基础上，如果打到的是反光表面，就继续递归发反射光线。</a:t>
            </a:r>
          </a:p>
          <a:p>
            <a:r>
              <a:rPr lang="zh-CN" altLang="en-US" sz="1200" b="0" i="0" kern="1200" dirty="0">
                <a:solidFill>
                  <a:schemeClr val="tx1"/>
                </a:solidFill>
                <a:effectLst/>
                <a:latin typeface="+mn-lt"/>
                <a:ea typeface="+mn-ea"/>
                <a:cs typeface="+mn-cs"/>
              </a:rPr>
              <a:t>所以这个项目是分三步走的：</a:t>
            </a:r>
          </a:p>
          <a:p>
            <a:r>
              <a:rPr lang="zh-CN" altLang="en-US" sz="1200" b="0" i="0" kern="1200" dirty="0">
                <a:solidFill>
                  <a:schemeClr val="tx1"/>
                </a:solidFill>
                <a:effectLst/>
                <a:latin typeface="+mn-lt"/>
                <a:ea typeface="+mn-ea"/>
                <a:cs typeface="+mn-cs"/>
              </a:rPr>
              <a:t>先让打到物体的点“亮起来”</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也就是 </a:t>
            </a:r>
            <a:r>
              <a:rPr lang="en-US" altLang="zh-CN" sz="1200" b="1" i="0" kern="1200" dirty="0">
                <a:solidFill>
                  <a:schemeClr val="tx1"/>
                </a:solidFill>
                <a:effectLst/>
                <a:latin typeface="+mn-lt"/>
                <a:ea typeface="+mn-ea"/>
                <a:cs typeface="+mn-cs"/>
              </a:rPr>
              <a:t>Phong </a:t>
            </a:r>
            <a:r>
              <a:rPr lang="zh-CN" altLang="en-US" sz="1200" b="1" i="0" kern="1200" dirty="0">
                <a:solidFill>
                  <a:schemeClr val="tx1"/>
                </a:solidFill>
                <a:effectLst/>
                <a:latin typeface="+mn-lt"/>
                <a:ea typeface="+mn-ea"/>
                <a:cs typeface="+mn-cs"/>
              </a:rPr>
              <a:t>光照</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再把各种几何体的 </a:t>
            </a:r>
            <a:r>
              <a:rPr lang="zh-CN" altLang="en-US" sz="1200" b="1" i="0" kern="1200" dirty="0">
                <a:solidFill>
                  <a:schemeClr val="tx1"/>
                </a:solidFill>
                <a:effectLst/>
                <a:latin typeface="+mn-lt"/>
                <a:ea typeface="+mn-ea"/>
                <a:cs typeface="+mn-cs"/>
              </a:rPr>
              <a:t>相交</a:t>
            </a:r>
            <a:r>
              <a:rPr lang="zh-CN" altLang="en-US" sz="1200" b="0" i="0" kern="1200" dirty="0">
                <a:solidFill>
                  <a:schemeClr val="tx1"/>
                </a:solidFill>
                <a:effectLst/>
                <a:latin typeface="+mn-lt"/>
                <a:ea typeface="+mn-ea"/>
                <a:cs typeface="+mn-cs"/>
              </a:rPr>
              <a:t> 做对</a:t>
            </a:r>
          </a:p>
          <a:p>
            <a:r>
              <a:rPr lang="zh-CN" altLang="en-US" sz="1200" b="0" i="0" kern="1200" dirty="0">
                <a:solidFill>
                  <a:schemeClr val="tx1"/>
                </a:solidFill>
                <a:effectLst/>
                <a:latin typeface="+mn-lt"/>
                <a:ea typeface="+mn-ea"/>
                <a:cs typeface="+mn-cs"/>
              </a:rPr>
              <a:t>最后加上 </a:t>
            </a:r>
            <a:r>
              <a:rPr lang="zh-CN" altLang="en-US" sz="1200" b="1" i="0" kern="1200" dirty="0">
                <a:solidFill>
                  <a:schemeClr val="tx1"/>
                </a:solidFill>
                <a:effectLst/>
                <a:latin typeface="+mn-lt"/>
                <a:ea typeface="+mn-ea"/>
                <a:cs typeface="+mn-cs"/>
              </a:rPr>
              <a:t>阴影</a:t>
            </a:r>
            <a:r>
              <a:rPr lang="zh-CN" altLang="en-US" sz="1200" b="0" i="0" kern="1200" dirty="0">
                <a:solidFill>
                  <a:schemeClr val="tx1"/>
                </a:solidFill>
                <a:effectLst/>
                <a:latin typeface="+mn-lt"/>
                <a:ea typeface="+mn-ea"/>
                <a:cs typeface="+mn-cs"/>
              </a:rPr>
              <a:t> 和 </a:t>
            </a:r>
            <a:r>
              <a:rPr lang="zh-CN" altLang="en-US" sz="1200" b="1" i="0" kern="1200" dirty="0">
                <a:solidFill>
                  <a:schemeClr val="tx1"/>
                </a:solidFill>
                <a:effectLst/>
                <a:latin typeface="+mn-lt"/>
                <a:ea typeface="+mn-ea"/>
                <a:cs typeface="+mn-cs"/>
              </a:rPr>
              <a:t>递归反射</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15212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代码框架已经给了很多东西，</a:t>
            </a:r>
            <a:br>
              <a:rPr lang="en-US" altLang="zh-CN" sz="1200" b="0" i="0" kern="1200" dirty="0">
                <a:solidFill>
                  <a:schemeClr val="tx1"/>
                </a:solidFill>
                <a:effectLst/>
                <a:latin typeface="+mn-lt"/>
                <a:ea typeface="+mn-ea"/>
                <a:cs typeface="+mn-cs"/>
              </a:rPr>
            </a:br>
            <a:r>
              <a:rPr lang="en-US" altLang="zh-CN" sz="1200" b="0" i="0" kern="1200" dirty="0" err="1">
                <a:solidFill>
                  <a:schemeClr val="tx1"/>
                </a:solidFill>
                <a:effectLst/>
                <a:latin typeface="+mn-lt"/>
                <a:ea typeface="+mn-ea"/>
                <a:cs typeface="+mn-cs"/>
              </a:rPr>
              <a:t>src</a:t>
            </a:r>
            <a:r>
              <a:rPr lang="zh-CN" altLang="en-US" sz="1200" b="0" i="0" kern="1200" dirty="0">
                <a:solidFill>
                  <a:schemeClr val="tx1"/>
                </a:solidFill>
                <a:effectLst/>
                <a:latin typeface="+mn-lt"/>
                <a:ea typeface="+mn-ea"/>
                <a:cs typeface="+mn-cs"/>
              </a:rPr>
              <a:t>：你们主要改这里</a:t>
            </a:r>
          </a:p>
          <a:p>
            <a:r>
              <a:rPr lang="en-US" altLang="zh-CN" sz="1200" b="0" i="0" kern="1200" dirty="0">
                <a:solidFill>
                  <a:schemeClr val="tx1"/>
                </a:solidFill>
                <a:effectLst/>
                <a:latin typeface="+mn-lt"/>
                <a:ea typeface="+mn-ea"/>
                <a:cs typeface="+mn-cs"/>
              </a:rPr>
              <a:t>data</a:t>
            </a:r>
            <a:r>
              <a:rPr lang="zh-CN" altLang="en-US" sz="1200" b="0" i="0" kern="1200" dirty="0">
                <a:solidFill>
                  <a:schemeClr val="tx1"/>
                </a:solidFill>
                <a:effectLst/>
                <a:latin typeface="+mn-lt"/>
                <a:ea typeface="+mn-ea"/>
                <a:cs typeface="+mn-cs"/>
              </a:rPr>
              <a:t>：场景文件，决定场景里有什么物体、相机、光源</a:t>
            </a:r>
          </a:p>
          <a:p>
            <a:r>
              <a:rPr lang="en-US" altLang="zh-CN" sz="1200" b="0" i="0" kern="1200" dirty="0" err="1">
                <a:solidFill>
                  <a:schemeClr val="tx1"/>
                </a:solidFill>
                <a:effectLst/>
                <a:latin typeface="+mn-lt"/>
                <a:ea typeface="+mn-ea"/>
                <a:cs typeface="+mn-cs"/>
              </a:rPr>
              <a:t>vecmath</a:t>
            </a:r>
            <a:r>
              <a:rPr lang="zh-CN" altLang="en-US" sz="1200" b="0" i="0" kern="1200" dirty="0">
                <a:solidFill>
                  <a:schemeClr val="tx1"/>
                </a:solidFill>
                <a:effectLst/>
                <a:latin typeface="+mn-lt"/>
                <a:ea typeface="+mn-ea"/>
                <a:cs typeface="+mn-cs"/>
              </a:rPr>
              <a:t>：向量矩阵计算，很多操作直接调用，不要自己乱写</a:t>
            </a:r>
          </a:p>
          <a:p>
            <a:r>
              <a:rPr lang="en-US" altLang="zh-CN" sz="1200" b="0" i="0" kern="1200" dirty="0" err="1">
                <a:solidFill>
                  <a:schemeClr val="tx1"/>
                </a:solidFill>
                <a:effectLst/>
                <a:latin typeface="+mn-lt"/>
                <a:ea typeface="+mn-ea"/>
                <a:cs typeface="+mn-cs"/>
              </a:rPr>
              <a:t>sample_solution</a:t>
            </a:r>
            <a:r>
              <a:rPr lang="zh-CN" altLang="en-US" sz="1200" b="0" i="0" kern="1200" dirty="0">
                <a:solidFill>
                  <a:schemeClr val="tx1"/>
                </a:solidFill>
                <a:effectLst/>
                <a:latin typeface="+mn-lt"/>
                <a:ea typeface="+mn-ea"/>
                <a:cs typeface="+mn-cs"/>
              </a:rPr>
              <a:t>：这是最重要的参考，你不确定输出该长什么样，就去跑它</a:t>
            </a:r>
          </a:p>
          <a:p>
            <a:r>
              <a:rPr lang="en-US" altLang="zh-CN" sz="1200" b="0" i="0" kern="1200" dirty="0" err="1">
                <a:solidFill>
                  <a:schemeClr val="tx1"/>
                </a:solidFill>
                <a:effectLst/>
                <a:latin typeface="+mn-lt"/>
                <a:ea typeface="+mn-ea"/>
                <a:cs typeface="+mn-cs"/>
              </a:rPr>
              <a:t>sample_out</a:t>
            </a:r>
            <a:r>
              <a:rPr lang="zh-CN" altLang="en-US" sz="1200" b="0" i="0" kern="1200" dirty="0">
                <a:solidFill>
                  <a:schemeClr val="tx1"/>
                </a:solidFill>
                <a:effectLst/>
                <a:latin typeface="+mn-lt"/>
                <a:ea typeface="+mn-ea"/>
                <a:cs typeface="+mn-cs"/>
              </a:rPr>
              <a:t>：标准答案图像</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4274847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运行结果</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2439904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Fundamentals of Computer Graphics</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2151948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E87CDC-6E6F-439F-BA91-A7FF544020C8}"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等线" panose="02010600030101010101" charset="-122"/>
                <a:ea typeface="等线" panose="02010600030101010101"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等线" panose="02010600030101010101" charset="-122"/>
                <a:ea typeface="等线" panose="02010600030101010101" charset="-122"/>
              </a:defRPr>
            </a:lvl1pPr>
            <a:lvl2pPr>
              <a:defRPr>
                <a:latin typeface="等线" panose="02010600030101010101" charset="-122"/>
                <a:ea typeface="等线" panose="02010600030101010101" charset="-122"/>
              </a:defRPr>
            </a:lvl2pPr>
            <a:lvl3pPr>
              <a:defRPr>
                <a:latin typeface="等线" panose="02010600030101010101" charset="-122"/>
                <a:ea typeface="等线" panose="02010600030101010101" charset="-122"/>
              </a:defRPr>
            </a:lvl3pPr>
            <a:lvl4pPr>
              <a:defRPr>
                <a:latin typeface="等线" panose="02010600030101010101" charset="-122"/>
                <a:ea typeface="等线" panose="02010600030101010101" charset="-122"/>
              </a:defRPr>
            </a:lvl4pPr>
            <a:lvl5pPr>
              <a:defRPr>
                <a:latin typeface="等线" panose="02010600030101010101" charset="-122"/>
                <a:ea typeface="等线" panose="02010600030101010101"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atin typeface="等线" panose="02010600030101010101" charset="-122"/>
                <a:ea typeface="等线" panose="02010600030101010101" charset="-122"/>
              </a:defRPr>
            </a:lvl1pPr>
          </a:lstStyle>
          <a:p>
            <a:fld id="{D997B5FA-0921-464F-AAE1-844C04324D75}" type="datetimeFigureOut">
              <a:rPr lang="zh-CN" altLang="en-US" smtClean="0"/>
              <a:t>2026/5/1</a:t>
            </a:fld>
            <a:endParaRPr lang="zh-CN" altLang="en-US"/>
          </a:p>
        </p:txBody>
      </p:sp>
      <p:sp>
        <p:nvSpPr>
          <p:cNvPr id="5" name="页脚占位符 4"/>
          <p:cNvSpPr>
            <a:spLocks noGrp="1"/>
          </p:cNvSpPr>
          <p:nvPr>
            <p:ph type="ftr" sz="quarter" idx="11"/>
          </p:nvPr>
        </p:nvSpPr>
        <p:spPr/>
        <p:txBody>
          <a:bodyPr/>
          <a:lstStyle>
            <a:lvl1pPr>
              <a:defRPr>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defRPr>
            </a:lvl1pPr>
          </a:lstStyle>
          <a:p>
            <a:fld id="{D997B5FA-0921-464F-AAE1-844C04324D75}" type="datetimeFigureOut">
              <a:rPr lang="zh-CN" altLang="en-US" smtClean="0"/>
              <a:t>2026/5/1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等线" panose="02010600030101010101" charset="-122"/>
          <a:ea typeface="等线" panose="0201060003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25213050030@m.fudan.edu.cn" TargetMode="External"/><Relationship Id="rId2" Type="http://schemas.openxmlformats.org/officeDocument/2006/relationships/hyperlink" Target="mailto:25113050105@m.fudan.edu.c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11.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9.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26.xml"/><Relationship Id="rId7" Type="http://schemas.openxmlformats.org/officeDocument/2006/relationships/image" Target="../media/image22.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21.png"/><Relationship Id="rId5" Type="http://schemas.openxmlformats.org/officeDocument/2006/relationships/hyperlink" Target="https://zhuanlan.zhihu.com/p/361943207" TargetMode="Externa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7.xml"/><Relationship Id="rId5" Type="http://schemas.openxmlformats.org/officeDocument/2006/relationships/image" Target="../media/image26.sv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32.xml"/><Relationship Id="rId7" Type="http://schemas.openxmlformats.org/officeDocument/2006/relationships/image" Target="../media/image30.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29.png"/><Relationship Id="rId5" Type="http://schemas.openxmlformats.org/officeDocument/2006/relationships/slideLayout" Target="../slideLayouts/slideLayout2.xml"/><Relationship Id="rId4" Type="http://schemas.openxmlformats.org/officeDocument/2006/relationships/tags" Target="../tags/tag33.xml"/><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sites.cs.ucsb.edu/~lingqi/teaching/games101.html" TargetMode="External"/><Relationship Id="rId2" Type="http://schemas.openxmlformats.org/officeDocument/2006/relationships/hyperlink" Target="http://ranger.uta.edu/~fegaras/cse5317/flex/flex_toc.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98918"/>
            <a:ext cx="9144000" cy="2387600"/>
          </a:xfrm>
        </p:spPr>
        <p:txBody>
          <a:bodyPr>
            <a:normAutofit fontScale="90000"/>
          </a:bodyPr>
          <a:lstStyle/>
          <a:p>
            <a:br>
              <a:rPr lang="zh-CN" altLang="en-US" dirty="0">
                <a:latin typeface="等线" panose="02010600030101010101" charset="-122"/>
                <a:ea typeface="等线" panose="02010600030101010101" charset="-122"/>
                <a:cs typeface="等线" panose="02010600030101010101" charset="-122"/>
                <a:sym typeface="+mn-ea"/>
              </a:rPr>
            </a:br>
            <a:r>
              <a:rPr lang="zh-CN" altLang="en-US" dirty="0">
                <a:latin typeface="等线" panose="02010600030101010101" charset="-122"/>
                <a:ea typeface="等线" panose="02010600030101010101" charset="-122"/>
                <a:cs typeface="等线" panose="02010600030101010101" charset="-122"/>
                <a:sym typeface="+mn-ea"/>
              </a:rPr>
              <a:t>计算机图形学</a:t>
            </a:r>
            <a:br>
              <a:rPr lang="zh-CN" altLang="en-US" dirty="0">
                <a:latin typeface="等线" panose="02010600030101010101" charset="-122"/>
                <a:ea typeface="等线" panose="02010600030101010101" charset="-122"/>
                <a:cs typeface="等线" panose="02010600030101010101" charset="-122"/>
                <a:sym typeface="+mn-ea"/>
              </a:rPr>
            </a:br>
            <a:br>
              <a:rPr lang="zh-CN" altLang="en-US" dirty="0">
                <a:latin typeface="等线" panose="02010600030101010101" charset="-122"/>
                <a:ea typeface="等线" panose="02010600030101010101" charset="-122"/>
                <a:cs typeface="等线" panose="02010600030101010101" charset="-122"/>
                <a:sym typeface="+mn-ea"/>
              </a:rPr>
            </a:br>
            <a:r>
              <a:rPr lang="zh-CN" altLang="en-US" sz="4000" dirty="0">
                <a:latin typeface="等线" panose="02010600030101010101" charset="-122"/>
                <a:ea typeface="等线" panose="02010600030101010101" charset="-122"/>
                <a:cs typeface="等线" panose="02010600030101010101" charset="-122"/>
                <a:sym typeface="+mn-ea"/>
              </a:rPr>
              <a:t>课程</a:t>
            </a:r>
            <a:r>
              <a:rPr lang="en-US" altLang="zh-CN" sz="4000" dirty="0">
                <a:latin typeface="等线" panose="02010600030101010101" charset="-122"/>
                <a:ea typeface="等线" panose="02010600030101010101" charset="-122"/>
                <a:cs typeface="等线" panose="02010600030101010101" charset="-122"/>
                <a:sym typeface="+mn-ea"/>
              </a:rPr>
              <a:t>Project</a:t>
            </a:r>
            <a:r>
              <a:rPr lang="zh-CN" altLang="en-US" sz="4000" dirty="0">
                <a:latin typeface="等线" panose="02010600030101010101" charset="-122"/>
                <a:ea typeface="等线" panose="02010600030101010101" charset="-122"/>
                <a:cs typeface="等线" panose="02010600030101010101" charset="-122"/>
                <a:sym typeface="+mn-ea"/>
              </a:rPr>
              <a:t>说明</a:t>
            </a:r>
            <a:endParaRPr lang="zh-CN" altLang="en-US" sz="4000">
              <a:latin typeface="等线" panose="02010600030101010101" charset="-122"/>
              <a:ea typeface="等线" panose="02010600030101010101" charset="-122"/>
              <a:cs typeface="等线" panose="02010600030101010101" charset="-122"/>
            </a:endParaRPr>
          </a:p>
        </p:txBody>
      </p:sp>
      <p:sp>
        <p:nvSpPr>
          <p:cNvPr id="3" name="副标题 2"/>
          <p:cNvSpPr>
            <a:spLocks noGrp="1"/>
          </p:cNvSpPr>
          <p:nvPr>
            <p:ph type="subTitle" idx="1"/>
          </p:nvPr>
        </p:nvSpPr>
        <p:spPr>
          <a:xfrm>
            <a:off x="1524000" y="3978593"/>
            <a:ext cx="9144000" cy="1655762"/>
          </a:xfrm>
        </p:spPr>
        <p:txBody>
          <a:bodyPr>
            <a:normAutofit/>
          </a:bodyPr>
          <a:lstStyle/>
          <a:p>
            <a:endParaRPr lang="zh-CN" altLang="en-US" sz="3600">
              <a:latin typeface="等线" panose="02010600030101010101" charset="-122"/>
              <a:ea typeface="等线" panose="02010600030101010101" charset="-122"/>
            </a:endParaRPr>
          </a:p>
          <a:p>
            <a:r>
              <a:rPr lang="zh-CN" altLang="en-US">
                <a:latin typeface="等线" panose="02010600030101010101" charset="-122"/>
                <a:ea typeface="等线" panose="02010600030101010101" charset="-122"/>
              </a:rPr>
              <a:t>COMP130018.01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等线" panose="02010600030101010101" charset="-122"/>
                <a:ea typeface="等线" panose="02010600030101010101" charset="-122"/>
                <a:sym typeface="+mn-ea"/>
              </a:rPr>
              <a:t>简介</a:t>
            </a:r>
          </a:p>
        </p:txBody>
      </p:sp>
      <p:sp>
        <p:nvSpPr>
          <p:cNvPr id="3" name="内容占位符 2"/>
          <p:cNvSpPr>
            <a:spLocks noGrp="1"/>
          </p:cNvSpPr>
          <p:nvPr>
            <p:ph idx="1"/>
          </p:nvPr>
        </p:nvSpPr>
        <p:spPr/>
        <p:txBody>
          <a:bodyPr>
            <a:normAutofit lnSpcReduction="10000"/>
          </a:bodyPr>
          <a:lstStyle/>
          <a:p>
            <a:pPr>
              <a:lnSpc>
                <a:spcPct val="100000"/>
              </a:lnSpc>
            </a:pPr>
            <a:r>
              <a:rPr lang="zh-CN" altLang="en-US" sz="2800" dirty="0">
                <a:latin typeface="等线" panose="02010600030101010101" charset="-122"/>
                <a:ea typeface="等线" panose="02010600030101010101" charset="-122"/>
                <a:cs typeface="等线" panose="02010600030101010101" charset="-122"/>
                <a:sym typeface="+mn-ea"/>
              </a:rPr>
              <a:t>本学期共有三个</a:t>
            </a:r>
            <a:r>
              <a:rPr lang="en-US" altLang="zh-CN" sz="2800" dirty="0">
                <a:latin typeface="等线" panose="02010600030101010101" charset="-122"/>
                <a:ea typeface="等线" panose="02010600030101010101" charset="-122"/>
                <a:cs typeface="等线" panose="02010600030101010101" charset="-122"/>
                <a:sym typeface="+mn-ea"/>
              </a:rPr>
              <a:t>Project</a:t>
            </a:r>
            <a:r>
              <a:rPr lang="zh-CN" altLang="en-US" sz="2800" dirty="0">
                <a:latin typeface="等线" panose="02010600030101010101" charset="-122"/>
                <a:ea typeface="等线" panose="02010600030101010101" charset="-122"/>
                <a:cs typeface="等线" panose="02010600030101010101" charset="-122"/>
                <a:sym typeface="+mn-ea"/>
              </a:rPr>
              <a:t>：</a:t>
            </a:r>
            <a:endParaRPr lang="en-US" altLang="zh-CN" sz="2800" dirty="0">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1</a:t>
            </a:r>
            <a:r>
              <a:rPr lang="zh-CN" altLang="en-US" sz="2800" dirty="0">
                <a:latin typeface="等线" panose="02010600030101010101" charset="-122"/>
                <a:ea typeface="等线" panose="02010600030101010101" charset="-122"/>
                <a:cs typeface="等线" panose="02010600030101010101" charset="-122"/>
                <a:sym typeface="+mn-ea"/>
              </a:rPr>
              <a:t>：曲线和曲面造型技术，占比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endParaRPr lang="en-US" altLang="zh-CN" sz="2800" b="1" dirty="0">
              <a:solidFill>
                <a:srgbClr val="FF0000"/>
              </a:solidFill>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2</a:t>
            </a:r>
            <a:r>
              <a:rPr lang="zh-CN" altLang="en-US" sz="2800" dirty="0">
                <a:latin typeface="等线" panose="02010600030101010101" charset="-122"/>
                <a:ea typeface="等线" panose="02010600030101010101" charset="-122"/>
                <a:cs typeface="等线" panose="02010600030101010101" charset="-122"/>
                <a:sym typeface="+mn-ea"/>
              </a:rPr>
              <a:t>：光照模型与光线追踪，占比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r>
              <a:rPr lang="zh-CN" altLang="en-US" b="1" dirty="0">
                <a:solidFill>
                  <a:srgbClr val="FF0000"/>
                </a:solidFill>
                <a:cs typeface="等线" panose="02010600030101010101" charset="-122"/>
                <a:sym typeface="+mn-ea"/>
              </a:rPr>
              <a:t>（今天发布）</a:t>
            </a:r>
            <a:endParaRPr lang="en-US" altLang="zh-CN" sz="2800" b="1" dirty="0">
              <a:solidFill>
                <a:srgbClr val="FF0000"/>
              </a:solidFill>
              <a:latin typeface="等线" panose="02010600030101010101" charset="-122"/>
              <a:ea typeface="等线" panose="02010600030101010101" charset="-122"/>
              <a:cs typeface="等线" panose="02010600030101010101" charset="-122"/>
              <a:sym typeface="+mn-ea"/>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3</a:t>
            </a:r>
            <a:r>
              <a:rPr lang="zh-CN" altLang="en-US" sz="2800" dirty="0">
                <a:latin typeface="等线" panose="02010600030101010101" charset="-122"/>
                <a:ea typeface="等线" panose="02010600030101010101" charset="-122"/>
                <a:cs typeface="等线" panose="02010600030101010101" charset="-122"/>
                <a:sym typeface="+mn-ea"/>
              </a:rPr>
              <a:t>：占比</a:t>
            </a:r>
            <a:r>
              <a:rPr lang="en-US" altLang="zh-CN" b="1" dirty="0">
                <a:solidFill>
                  <a:srgbClr val="FF0000"/>
                </a:solidFill>
                <a:latin typeface="等线" panose="02010600030101010101" charset="-122"/>
                <a:ea typeface="等线" panose="02010600030101010101" charset="-122"/>
                <a:cs typeface="等线" panose="02010600030101010101" charset="-122"/>
                <a:sym typeface="+mn-ea"/>
              </a:rPr>
              <a:t>20%</a:t>
            </a:r>
          </a:p>
          <a:p>
            <a:pPr>
              <a:lnSpc>
                <a:spcPct val="100000"/>
              </a:lnSpc>
            </a:pPr>
            <a:r>
              <a:rPr lang="zh-CN" altLang="en-US" sz="2800" dirty="0">
                <a:latin typeface="等线" panose="02010600030101010101" charset="-122"/>
                <a:ea typeface="等线" panose="02010600030101010101" charset="-122"/>
                <a:cs typeface="等线" panose="02010600030101010101" charset="-122"/>
              </a:rPr>
              <a:t>每组</a:t>
            </a:r>
            <a:r>
              <a:rPr lang="en-US" altLang="zh-CN" sz="2800" dirty="0">
                <a:latin typeface="等线" panose="02010600030101010101" charset="-122"/>
                <a:ea typeface="等线" panose="02010600030101010101" charset="-122"/>
                <a:cs typeface="等线" panose="02010600030101010101" charset="-122"/>
              </a:rPr>
              <a:t>1-2</a:t>
            </a:r>
            <a:r>
              <a:rPr lang="zh-CN" altLang="en-US" sz="2800" dirty="0">
                <a:latin typeface="等线" panose="02010600030101010101" charset="-122"/>
                <a:ea typeface="等线" panose="02010600030101010101" charset="-122"/>
                <a:cs typeface="等线" panose="02010600030101010101" charset="-122"/>
              </a:rPr>
              <a:t>人都需要在</a:t>
            </a:r>
            <a:r>
              <a:rPr lang="en-US" altLang="zh-CN" sz="2800" dirty="0">
                <a:latin typeface="等线" panose="02010600030101010101" charset="-122"/>
                <a:ea typeface="等线" panose="02010600030101010101" charset="-122"/>
                <a:cs typeface="等线" panose="02010600030101010101" charset="-122"/>
              </a:rPr>
              <a:t>elearning</a:t>
            </a:r>
            <a:r>
              <a:rPr lang="zh-CN" altLang="en-US" sz="2800" dirty="0">
                <a:latin typeface="等线" panose="02010600030101010101" charset="-122"/>
                <a:ea typeface="等线" panose="02010600030101010101" charset="-122"/>
                <a:cs typeface="等线" panose="02010600030101010101" charset="-122"/>
              </a:rPr>
              <a:t>上提交，根据报告中的名字确定分组。</a:t>
            </a: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TA</a:t>
            </a:r>
            <a:r>
              <a:rPr lang="zh-CN" altLang="en-US" sz="2800" dirty="0">
                <a:latin typeface="等线" panose="02010600030101010101" charset="-122"/>
                <a:ea typeface="等线" panose="02010600030101010101" charset="-122"/>
                <a:cs typeface="等线" panose="02010600030101010101" charset="-122"/>
                <a:sym typeface="+mn-ea"/>
              </a:rPr>
              <a:t>联系方式：</a:t>
            </a:r>
            <a:endParaRPr lang="en-US" altLang="zh-CN" sz="2800" dirty="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a:cs typeface="等线" panose="02010600030101010101" charset="-122"/>
                <a:sym typeface="+mn-ea"/>
              </a:rPr>
              <a:t>宋大一 </a:t>
            </a:r>
            <a:r>
              <a:rPr lang="zh-CN" altLang="en-US" sz="2800" dirty="0">
                <a:cs typeface="等线" panose="02010600030101010101" charset="-122"/>
                <a:sym typeface="+mn-ea"/>
                <a:hlinkClick r:id="rId2"/>
              </a:rPr>
              <a:t>2</a:t>
            </a:r>
            <a:r>
              <a:rPr lang="en-US" altLang="zh-CN" sz="2800" dirty="0">
                <a:cs typeface="等线" panose="02010600030101010101" charset="-122"/>
                <a:sym typeface="+mn-ea"/>
                <a:hlinkClick r:id="rId2"/>
              </a:rPr>
              <a:t>5</a:t>
            </a:r>
            <a:r>
              <a:rPr lang="zh-CN" altLang="en-US" sz="2800" dirty="0">
                <a:cs typeface="等线" panose="02010600030101010101" charset="-122"/>
                <a:sym typeface="+mn-ea"/>
                <a:hlinkClick r:id="rId2"/>
              </a:rPr>
              <a:t>11</a:t>
            </a:r>
            <a:r>
              <a:rPr lang="en-US" altLang="zh-CN" sz="2800" dirty="0">
                <a:cs typeface="等线" panose="02010600030101010101" charset="-122"/>
                <a:sym typeface="+mn-ea"/>
                <a:hlinkClick r:id="rId2"/>
              </a:rPr>
              <a:t>305</a:t>
            </a:r>
            <a:r>
              <a:rPr lang="zh-CN" altLang="en-US" sz="2800" dirty="0">
                <a:cs typeface="等线" panose="02010600030101010101" charset="-122"/>
                <a:sym typeface="+mn-ea"/>
                <a:hlinkClick r:id="rId2"/>
              </a:rPr>
              <a:t>01</a:t>
            </a:r>
            <a:r>
              <a:rPr lang="en-US" altLang="zh-CN" sz="2800" dirty="0">
                <a:cs typeface="等线" panose="02010600030101010101" charset="-122"/>
                <a:sym typeface="+mn-ea"/>
                <a:hlinkClick r:id="rId2"/>
              </a:rPr>
              <a:t>05</a:t>
            </a:r>
            <a:r>
              <a:rPr lang="zh-CN" altLang="en-US" sz="2800" dirty="0">
                <a:cs typeface="等线" panose="02010600030101010101" charset="-122"/>
                <a:sym typeface="+mn-ea"/>
                <a:hlinkClick r:id="rId2"/>
              </a:rPr>
              <a:t>@m.fudan.edu.cn</a:t>
            </a:r>
            <a:r>
              <a:rPr lang="zh-CN" altLang="en-US" sz="2800" dirty="0">
                <a:cs typeface="等线" panose="02010600030101010101" charset="-122"/>
                <a:sym typeface="+mn-ea"/>
              </a:rPr>
              <a:t> </a:t>
            </a:r>
          </a:p>
          <a:p>
            <a:pPr lvl="1">
              <a:lnSpc>
                <a:spcPct val="100000"/>
              </a:lnSpc>
            </a:pPr>
            <a:r>
              <a:rPr lang="zh-CN" altLang="en-US" sz="2800" dirty="0">
                <a:latin typeface="等线" panose="02010600030101010101" charset="-122"/>
                <a:ea typeface="等线" panose="02010600030101010101" charset="-122"/>
                <a:cs typeface="等线" panose="02010600030101010101" charset="-122"/>
              </a:rPr>
              <a:t>刘陆婧 </a:t>
            </a:r>
            <a:r>
              <a:rPr lang="en-US" altLang="zh-CN" sz="2800" dirty="0">
                <a:latin typeface="等线" panose="02010600030101010101" charset="-122"/>
                <a:ea typeface="等线" panose="02010600030101010101" charset="-122"/>
                <a:cs typeface="等线" panose="02010600030101010101" charset="-122"/>
                <a:hlinkClick r:id="rId3"/>
              </a:rPr>
              <a:t>25213050030@m.fudan.edu.cn</a:t>
            </a:r>
            <a:endParaRPr lang="zh-CN" altLang="en-US" sz="2800" dirty="0">
              <a:cs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光照模型与光线追踪</a:t>
            </a:r>
            <a:endParaRPr lang="zh-CN" altLang="en-US"/>
          </a:p>
        </p:txBody>
      </p:sp>
      <p:sp>
        <p:nvSpPr>
          <p:cNvPr id="6" name="内容占位符 5"/>
          <p:cNvSpPr>
            <a:spLocks noGrp="1"/>
          </p:cNvSpPr>
          <p:nvPr>
            <p:ph idx="1"/>
          </p:nvPr>
        </p:nvSpPr>
        <p:spPr>
          <a:xfrm>
            <a:off x="838200" y="1691005"/>
            <a:ext cx="6512560" cy="4351655"/>
          </a:xfrm>
        </p:spPr>
        <p:txBody>
          <a:bodyPr>
            <a:normAutofit fontScale="85000" lnSpcReduction="20000"/>
          </a:bodyPr>
          <a:lstStyle/>
          <a:p>
            <a:pPr>
              <a:lnSpc>
                <a:spcPct val="100000"/>
              </a:lnSpc>
            </a:pPr>
            <a:r>
              <a:rPr lang="zh-CN" altLang="en-US">
                <a:solidFill>
                  <a:srgbClr val="FF0000"/>
                </a:solidFill>
              </a:rPr>
              <a:t>在</a:t>
            </a:r>
            <a:r>
              <a:rPr lang="en-US" altLang="zh-CN">
                <a:solidFill>
                  <a:srgbClr val="FF0000"/>
                </a:solidFill>
              </a:rPr>
              <a:t>PJ2</a:t>
            </a:r>
            <a:r>
              <a:rPr lang="zh-CN" altLang="en-US">
                <a:solidFill>
                  <a:srgbClr val="FF0000"/>
                </a:solidFill>
              </a:rPr>
              <a:t>中，你将实现光线投射（</a:t>
            </a:r>
            <a:r>
              <a:rPr lang="en-US" altLang="zh-CN">
                <a:solidFill>
                  <a:srgbClr val="FF0000"/>
                </a:solidFill>
              </a:rPr>
              <a:t>ray casting</a:t>
            </a:r>
            <a:r>
              <a:rPr lang="zh-CN" altLang="en-US">
                <a:solidFill>
                  <a:srgbClr val="FF0000"/>
                </a:solidFill>
              </a:rPr>
              <a:t>）算法，并最终实现递归光线跟踪（光追，</a:t>
            </a:r>
            <a:r>
              <a:rPr lang="en-US" altLang="zh-CN">
                <a:solidFill>
                  <a:srgbClr val="FF0000"/>
                </a:solidFill>
              </a:rPr>
              <a:t>ray tracing</a:t>
            </a:r>
            <a:r>
              <a:rPr lang="zh-CN" altLang="en-US">
                <a:solidFill>
                  <a:srgbClr val="FF0000"/>
                </a:solidFill>
              </a:rPr>
              <a:t>）。</a:t>
            </a:r>
            <a:r>
              <a:rPr lang="zh-CN" altLang="en-US">
                <a:sym typeface="+mn-ea"/>
              </a:rPr>
              <a:t>光线投射</a:t>
            </a:r>
            <a:r>
              <a:rPr lang="zh-CN" altLang="en-US"/>
              <a:t>为每个像素发送一条光线，并将其与场景中的所有对象相交。光线跟踪以同样的方式开始，但是递归地发送从场景中的对象交叉点反弹的额外光线。</a:t>
            </a:r>
          </a:p>
          <a:p>
            <a:pPr>
              <a:lnSpc>
                <a:spcPct val="100000"/>
              </a:lnSpc>
            </a:pPr>
            <a:r>
              <a:rPr lang="zh-CN" altLang="en-US"/>
              <a:t>你完成的程序将能够渲染几个基本的三维模型（球体、平面和三角形）和使用Phong着色模型加载的网格（</a:t>
            </a:r>
            <a:r>
              <a:rPr lang="en-US" altLang="zh-CN"/>
              <a:t>mesh</a:t>
            </a:r>
            <a:r>
              <a:rPr lang="zh-CN" altLang="en-US"/>
              <a:t>）模型，以及通过光线跟踪创建阴影和反射曲面的选项。</a:t>
            </a:r>
          </a:p>
          <a:p>
            <a:r>
              <a:rPr lang="zh-CN" altLang="en-US">
                <a:solidFill>
                  <a:srgbClr val="FF0000"/>
                </a:solidFill>
              </a:rPr>
              <a:t>任务</a:t>
            </a:r>
            <a:r>
              <a:rPr lang="en-US" altLang="zh-CN">
                <a:solidFill>
                  <a:srgbClr val="FF0000"/>
                </a:solidFill>
              </a:rPr>
              <a:t>1</a:t>
            </a:r>
            <a:r>
              <a:rPr lang="zh-CN" altLang="en-US">
                <a:solidFill>
                  <a:srgbClr val="FF0000"/>
                </a:solidFill>
              </a:rPr>
              <a:t>：</a:t>
            </a:r>
            <a:r>
              <a:rPr lang="en-US" altLang="zh-CN">
                <a:solidFill>
                  <a:srgbClr val="FF0000"/>
                </a:solidFill>
              </a:rPr>
              <a:t>Phong</a:t>
            </a:r>
            <a:r>
              <a:rPr lang="zh-CN" altLang="en-US">
                <a:solidFill>
                  <a:srgbClr val="FF0000"/>
                </a:solidFill>
              </a:rPr>
              <a:t>着色模型</a:t>
            </a:r>
          </a:p>
          <a:p>
            <a:r>
              <a:rPr lang="zh-CN" altLang="en-US">
                <a:solidFill>
                  <a:srgbClr val="FF0000"/>
                </a:solidFill>
              </a:rPr>
              <a:t>任务</a:t>
            </a:r>
            <a:r>
              <a:rPr lang="en-US" altLang="zh-CN">
                <a:solidFill>
                  <a:srgbClr val="FF0000"/>
                </a:solidFill>
              </a:rPr>
              <a:t>2</a:t>
            </a:r>
            <a:r>
              <a:rPr lang="zh-CN" altLang="en-US">
                <a:solidFill>
                  <a:srgbClr val="FF0000"/>
                </a:solidFill>
              </a:rPr>
              <a:t>：光线投射</a:t>
            </a:r>
          </a:p>
          <a:p>
            <a:r>
              <a:rPr lang="zh-CN" altLang="en-US">
                <a:solidFill>
                  <a:srgbClr val="FF0000"/>
                </a:solidFill>
              </a:rPr>
              <a:t>任务</a:t>
            </a:r>
            <a:r>
              <a:rPr lang="en-US" altLang="zh-CN">
                <a:solidFill>
                  <a:srgbClr val="FF0000"/>
                </a:solidFill>
              </a:rPr>
              <a:t>3</a:t>
            </a:r>
            <a:r>
              <a:rPr lang="zh-CN" altLang="en-US">
                <a:solidFill>
                  <a:srgbClr val="FF0000"/>
                </a:solidFill>
              </a:rPr>
              <a:t>：光线追踪与阴影投射</a:t>
            </a:r>
          </a:p>
        </p:txBody>
      </p:sp>
      <p:pic>
        <p:nvPicPr>
          <p:cNvPr id="100" name="图片 99"/>
          <p:cNvPicPr/>
          <p:nvPr>
            <p:custDataLst>
              <p:tags r:id="rId1"/>
            </p:custDataLst>
          </p:nvPr>
        </p:nvPicPr>
        <p:blipFill>
          <a:blip r:embed="rId4"/>
          <a:stretch>
            <a:fillRect/>
          </a:stretch>
        </p:blipFill>
        <p:spPr>
          <a:xfrm>
            <a:off x="7000875" y="2613025"/>
            <a:ext cx="4465320" cy="296672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p:txBody>
          <a:bodyPr>
            <a:normAutofit/>
          </a:bodyPr>
          <a:lstStyle/>
          <a:p>
            <a:r>
              <a:rPr lang="zh-CN" altLang="en-US">
                <a:solidFill>
                  <a:srgbClr val="FF0000"/>
                </a:solidFill>
              </a:rPr>
              <a:t>代码基于</a:t>
            </a:r>
            <a:r>
              <a:rPr lang="en-US" altLang="zh-CN">
                <a:solidFill>
                  <a:srgbClr val="FF0000"/>
                </a:solidFill>
              </a:rPr>
              <a:t>C++/OpenGL</a:t>
            </a:r>
            <a:r>
              <a:rPr lang="zh-CN" altLang="en-US">
                <a:solidFill>
                  <a:srgbClr val="FF0000"/>
                </a:solidFill>
              </a:rPr>
              <a:t>编写</a:t>
            </a:r>
            <a:endParaRPr lang="en-US" altLang="zh-CN">
              <a:solidFill>
                <a:srgbClr val="FF0000"/>
              </a:solidFill>
            </a:endParaRPr>
          </a:p>
          <a:p>
            <a:pPr marL="514350" indent="-514350">
              <a:buAutoNum type="arabicPeriod"/>
            </a:pPr>
            <a:r>
              <a:rPr lang="en-US" altLang="zh-CN"/>
              <a:t>data </a:t>
            </a:r>
            <a:r>
              <a:rPr lang="zh-CN" altLang="en-US"/>
              <a:t>为</a:t>
            </a:r>
            <a:r>
              <a:rPr lang="zh-CN" altLang="en-US">
                <a:sym typeface="+mn-ea"/>
              </a:rPr>
              <a:t>输入的模型文件</a:t>
            </a:r>
            <a:endParaRPr lang="zh-CN" altLang="en-US"/>
          </a:p>
          <a:p>
            <a:pPr marL="514350" indent="-514350">
              <a:buAutoNum type="arabicPeriod"/>
            </a:pPr>
            <a:r>
              <a:rPr lang="en-US" altLang="zh-CN">
                <a:sym typeface="+mn-ea"/>
              </a:rPr>
              <a:t>vecmath </a:t>
            </a:r>
            <a:r>
              <a:rPr lang="zh-CN" altLang="en-US">
                <a:sym typeface="+mn-ea"/>
              </a:rPr>
              <a:t>为向量计算库</a:t>
            </a:r>
            <a:endParaRPr lang="zh-CN" altLang="en-US"/>
          </a:p>
          <a:p>
            <a:pPr marL="514350" indent="-514350">
              <a:buAutoNum type="arabicPeriod"/>
            </a:pPr>
            <a:r>
              <a:rPr lang="en-US" altLang="zh-CN"/>
              <a:t>sample_solution </a:t>
            </a:r>
            <a:r>
              <a:rPr lang="zh-CN" altLang="en-US"/>
              <a:t>为实现的最终结果样例（包含</a:t>
            </a:r>
            <a:r>
              <a:rPr lang="en-US" altLang="zh-CN"/>
              <a:t>linux/athena</a:t>
            </a:r>
            <a:r>
              <a:rPr lang="zh-CN" altLang="en-US"/>
              <a:t>，</a:t>
            </a:r>
            <a:r>
              <a:rPr lang="en-US" altLang="zh-CN"/>
              <a:t>Windows</a:t>
            </a:r>
            <a:r>
              <a:rPr lang="zh-CN" altLang="en-US"/>
              <a:t>和</a:t>
            </a:r>
            <a:r>
              <a:rPr lang="en-US" altLang="zh-CN"/>
              <a:t>Mac</a:t>
            </a:r>
            <a:r>
              <a:rPr lang="zh-CN" altLang="en-US"/>
              <a:t>）</a:t>
            </a:r>
          </a:p>
          <a:p>
            <a:pPr marL="514350" indent="-514350">
              <a:buAutoNum type="arabicPeriod"/>
            </a:pPr>
            <a:r>
              <a:rPr lang="en-US" altLang="zh-CN"/>
              <a:t>sample_out </a:t>
            </a:r>
            <a:r>
              <a:rPr lang="zh-CN" altLang="en-US"/>
              <a:t>为模型的正确输出结果</a:t>
            </a:r>
          </a:p>
          <a:p>
            <a:pPr marL="514350" indent="-514350">
              <a:buAutoNum type="arabicPeriod"/>
            </a:pPr>
            <a:r>
              <a:rPr lang="en-US" altLang="zh-CN">
                <a:sym typeface="+mn-ea"/>
              </a:rPr>
              <a:t>bat</a:t>
            </a:r>
            <a:r>
              <a:rPr lang="zh-CN" altLang="en-US">
                <a:sym typeface="+mn-ea"/>
              </a:rPr>
              <a:t>和</a:t>
            </a:r>
            <a:r>
              <a:rPr lang="en-US" altLang="zh-CN">
                <a:sym typeface="+mn-ea"/>
              </a:rPr>
              <a:t>sh</a:t>
            </a:r>
            <a:r>
              <a:rPr lang="zh-CN" altLang="en-US">
                <a:sym typeface="+mn-ea"/>
              </a:rPr>
              <a:t>文件为方便生成图像的脚本</a:t>
            </a:r>
            <a:endParaRPr lang="zh-CN" altLang="en-US"/>
          </a:p>
          <a:p>
            <a:pPr marL="514350" indent="-514350">
              <a:buAutoNum type="arabicPeriod"/>
            </a:pPr>
            <a:r>
              <a:rPr lang="en-US" altLang="zh-CN"/>
              <a:t>src </a:t>
            </a:r>
            <a:r>
              <a:rPr lang="zh-CN" altLang="en-US"/>
              <a:t>为源代码</a:t>
            </a:r>
          </a:p>
          <a:p>
            <a:pPr marL="514350" indent="-514350">
              <a:buAutoNum type="arabicPeriod"/>
            </a:pPr>
            <a:endParaRPr lang="zh-CN" altLang="en-US"/>
          </a:p>
        </p:txBody>
      </p:sp>
      <p:pic>
        <p:nvPicPr>
          <p:cNvPr id="5" name="图片 4"/>
          <p:cNvPicPr>
            <a:picLocks noChangeAspect="1"/>
          </p:cNvPicPr>
          <p:nvPr>
            <p:custDataLst>
              <p:tags r:id="rId1"/>
            </p:custDataLst>
          </p:nvPr>
        </p:nvPicPr>
        <p:blipFill>
          <a:blip r:embed="rId4"/>
          <a:stretch>
            <a:fillRect/>
          </a:stretch>
        </p:blipFill>
        <p:spPr>
          <a:xfrm>
            <a:off x="8264525" y="365125"/>
            <a:ext cx="2133600" cy="21240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6002020" cy="4351655"/>
          </a:xfrm>
        </p:spPr>
        <p:txBody>
          <a:bodyPr>
            <a:normAutofit fontScale="85000" lnSpcReduction="20000"/>
          </a:bodyPr>
          <a:lstStyle/>
          <a:p>
            <a:r>
              <a:rPr lang="zh-CN" altLang="en-US">
                <a:solidFill>
                  <a:srgbClr val="FF0000"/>
                </a:solidFill>
              </a:rPr>
              <a:t>运行结果样例</a:t>
            </a:r>
          </a:p>
          <a:p>
            <a:r>
              <a:rPr sz="2400">
                <a:sym typeface="+mn-ea"/>
              </a:rPr>
              <a:t>chmod u+x sample</a:t>
            </a:r>
            <a:r>
              <a:rPr lang="en-US" sz="2400">
                <a:sym typeface="+mn-ea"/>
              </a:rPr>
              <a:t>_</a:t>
            </a:r>
            <a:r>
              <a:rPr sz="2400">
                <a:sym typeface="+mn-ea"/>
              </a:rPr>
              <a:t>solution/athena/a4</a:t>
            </a:r>
          </a:p>
          <a:p>
            <a:r>
              <a:rPr lang="en-US" sz="2400">
                <a:sym typeface="+mn-ea"/>
              </a:rPr>
              <a:t>./</a:t>
            </a:r>
            <a:r>
              <a:rPr sz="2400">
                <a:sym typeface="+mn-ea"/>
              </a:rPr>
              <a:t>a</a:t>
            </a:r>
            <a:r>
              <a:rPr lang="en-US" sz="2400">
                <a:sym typeface="+mn-ea"/>
              </a:rPr>
              <a:t>2</a:t>
            </a:r>
            <a:r>
              <a:rPr sz="2400">
                <a:sym typeface="+mn-ea"/>
              </a:rPr>
              <a:t> </a:t>
            </a:r>
            <a:r>
              <a:rPr lang="en-US" sz="2400">
                <a:sym typeface="+mn-ea"/>
              </a:rPr>
              <a:t>-</a:t>
            </a:r>
            <a:r>
              <a:rPr sz="2400">
                <a:sym typeface="+mn-ea"/>
              </a:rPr>
              <a:t>input ../data/scene01_plane.txt -output </a:t>
            </a:r>
            <a:r>
              <a:rPr lang="en-US" sz="2400">
                <a:sym typeface="+mn-ea"/>
              </a:rPr>
              <a:t>0</a:t>
            </a:r>
            <a:r>
              <a:rPr sz="2400">
                <a:sym typeface="+mn-ea"/>
              </a:rPr>
              <a:t>1.png -size 200 200</a:t>
            </a:r>
          </a:p>
          <a:p>
            <a:r>
              <a:rPr sz="2400">
                <a:sym typeface="+mn-ea"/>
              </a:rPr>
              <a:t>./a</a:t>
            </a:r>
            <a:r>
              <a:rPr lang="en-US" sz="2400">
                <a:sym typeface="+mn-ea"/>
              </a:rPr>
              <a:t>2</a:t>
            </a:r>
            <a:r>
              <a:rPr sz="2400">
                <a:sym typeface="+mn-ea"/>
              </a:rPr>
              <a:t> -input ../data/scene06</a:t>
            </a:r>
            <a:r>
              <a:rPr lang="en-US" sz="2400">
                <a:sym typeface="+mn-ea"/>
              </a:rPr>
              <a:t>_</a:t>
            </a:r>
            <a:r>
              <a:rPr sz="2400">
                <a:sym typeface="+mn-ea"/>
              </a:rPr>
              <a:t>bunny</a:t>
            </a:r>
            <a:r>
              <a:rPr lang="en-US" sz="2400">
                <a:sym typeface="+mn-ea"/>
              </a:rPr>
              <a:t>_</a:t>
            </a:r>
            <a:r>
              <a:rPr sz="2400">
                <a:sym typeface="+mn-ea"/>
              </a:rPr>
              <a:t>1k.txt -output 06.png -size 300 300 -bounces 4</a:t>
            </a:r>
          </a:p>
          <a:p>
            <a:r>
              <a:rPr sz="2400">
                <a:sym typeface="+mn-ea"/>
              </a:rPr>
              <a:t>./a</a:t>
            </a:r>
            <a:r>
              <a:rPr lang="en-US" sz="2400">
                <a:sym typeface="+mn-ea"/>
              </a:rPr>
              <a:t>2</a:t>
            </a:r>
            <a:r>
              <a:rPr sz="2400">
                <a:sym typeface="+mn-ea"/>
              </a:rPr>
              <a:t> -input ../data/scene07</a:t>
            </a:r>
            <a:r>
              <a:rPr lang="en-US" sz="2400">
                <a:sym typeface="+mn-ea"/>
              </a:rPr>
              <a:t>_</a:t>
            </a:r>
            <a:r>
              <a:rPr sz="2400">
                <a:sym typeface="+mn-ea"/>
              </a:rPr>
              <a:t>arch.txt -output 07.png -size 300 300 -shadows -bounces 4</a:t>
            </a:r>
          </a:p>
          <a:p>
            <a:endParaRPr sz="2400">
              <a:sym typeface="+mn-ea"/>
            </a:endParaRPr>
          </a:p>
          <a:p>
            <a:r>
              <a:rPr lang="en-US" sz="2400">
                <a:sym typeface="+mn-ea"/>
              </a:rPr>
              <a:t>-depth</a:t>
            </a:r>
            <a:r>
              <a:rPr lang="zh-CN" altLang="en-US" sz="2400">
                <a:sym typeface="+mn-ea"/>
              </a:rPr>
              <a:t>参数：生成深度图</a:t>
            </a:r>
          </a:p>
          <a:p>
            <a:r>
              <a:rPr lang="en-US" altLang="zh-CN" sz="2400">
                <a:sym typeface="+mn-ea"/>
              </a:rPr>
              <a:t>-normals</a:t>
            </a:r>
            <a:r>
              <a:rPr lang="zh-CN" altLang="en-US" sz="2400">
                <a:sym typeface="+mn-ea"/>
              </a:rPr>
              <a:t>参数：生成法线图</a:t>
            </a:r>
          </a:p>
          <a:p>
            <a:r>
              <a:rPr sz="2400">
                <a:sym typeface="+mn-ea"/>
              </a:rPr>
              <a:t>-shadows</a:t>
            </a:r>
            <a:r>
              <a:rPr lang="zh-CN" sz="2400">
                <a:sym typeface="+mn-ea"/>
              </a:rPr>
              <a:t>参数：投射阴影</a:t>
            </a:r>
          </a:p>
          <a:p>
            <a:r>
              <a:rPr sz="2400">
                <a:sym typeface="+mn-ea"/>
              </a:rPr>
              <a:t>-bounces</a:t>
            </a:r>
            <a:r>
              <a:rPr lang="zh-CN" sz="2400">
                <a:sym typeface="+mn-ea"/>
              </a:rPr>
              <a:t>参数：光追</a:t>
            </a:r>
            <a:r>
              <a:rPr lang="zh-CN" altLang="en-US" sz="2400">
                <a:sym typeface="+mn-ea"/>
              </a:rPr>
              <a:t>最大递归深度</a:t>
            </a:r>
            <a:endParaRPr lang="zh-CN" sz="2400">
              <a:sym typeface="+mn-ea"/>
            </a:endParaRPr>
          </a:p>
        </p:txBody>
      </p:sp>
      <p:pic>
        <p:nvPicPr>
          <p:cNvPr id="6" name="图片 5" descr="a07"/>
          <p:cNvPicPr>
            <a:picLocks noChangeAspect="1"/>
          </p:cNvPicPr>
          <p:nvPr>
            <p:custDataLst>
              <p:tags r:id="rId1"/>
            </p:custDataLst>
          </p:nvPr>
        </p:nvPicPr>
        <p:blipFill>
          <a:blip r:embed="rId5"/>
          <a:stretch>
            <a:fillRect/>
          </a:stretch>
        </p:blipFill>
        <p:spPr>
          <a:xfrm>
            <a:off x="8498840" y="3641725"/>
            <a:ext cx="2535555" cy="2535555"/>
          </a:xfrm>
          <a:prstGeom prst="rect">
            <a:avLst/>
          </a:prstGeom>
        </p:spPr>
      </p:pic>
      <p:pic>
        <p:nvPicPr>
          <p:cNvPr id="7" name="图片 6"/>
          <p:cNvPicPr>
            <a:picLocks noChangeAspect="1"/>
          </p:cNvPicPr>
          <p:nvPr>
            <p:custDataLst>
              <p:tags r:id="rId2"/>
            </p:custDataLst>
          </p:nvPr>
        </p:nvPicPr>
        <p:blipFill>
          <a:blip r:embed="rId6"/>
          <a:stretch>
            <a:fillRect/>
          </a:stretch>
        </p:blipFill>
        <p:spPr>
          <a:xfrm>
            <a:off x="8477250" y="861695"/>
            <a:ext cx="2567305" cy="2567305"/>
          </a:xfrm>
          <a:prstGeom prst="rect">
            <a:avLst/>
          </a:prstGeom>
        </p:spPr>
      </p:pic>
      <p:sp>
        <p:nvSpPr>
          <p:cNvPr id="8" name="文本框 7"/>
          <p:cNvSpPr txBox="1"/>
          <p:nvPr/>
        </p:nvSpPr>
        <p:spPr>
          <a:xfrm>
            <a:off x="8670290" y="1002030"/>
            <a:ext cx="1019175" cy="368300"/>
          </a:xfrm>
          <a:prstGeom prst="rect">
            <a:avLst/>
          </a:prstGeom>
          <a:noFill/>
        </p:spPr>
        <p:txBody>
          <a:bodyPr wrap="square" rtlCol="0">
            <a:spAutoFit/>
          </a:bodyPr>
          <a:lstStyle/>
          <a:p>
            <a:r>
              <a:rPr lang="en-US" altLang="zh-CN">
                <a:solidFill>
                  <a:schemeClr val="bg1"/>
                </a:solidFill>
              </a:rPr>
              <a:t>06</a:t>
            </a:r>
          </a:p>
        </p:txBody>
      </p:sp>
      <p:sp>
        <p:nvSpPr>
          <p:cNvPr id="9" name="文本框 8"/>
          <p:cNvSpPr txBox="1"/>
          <p:nvPr/>
        </p:nvSpPr>
        <p:spPr>
          <a:xfrm>
            <a:off x="8670290" y="3816985"/>
            <a:ext cx="1019175" cy="368300"/>
          </a:xfrm>
          <a:prstGeom prst="rect">
            <a:avLst/>
          </a:prstGeom>
          <a:noFill/>
        </p:spPr>
        <p:txBody>
          <a:bodyPr wrap="square" rtlCol="0">
            <a:spAutoFit/>
          </a:bodyPr>
          <a:lstStyle/>
          <a:p>
            <a:r>
              <a:rPr lang="en-US" altLang="zh-CN">
                <a:solidFill>
                  <a:schemeClr val="bg1"/>
                </a:solidFill>
              </a:rPr>
              <a:t>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10516235" cy="4351655"/>
          </a:xfrm>
        </p:spPr>
        <p:txBody>
          <a:bodyPr>
            <a:normAutofit fontScale="85000" lnSpcReduction="20000"/>
          </a:bodyPr>
          <a:lstStyle/>
          <a:p>
            <a:pPr>
              <a:lnSpc>
                <a:spcPct val="100000"/>
              </a:lnSpc>
            </a:pPr>
            <a:r>
              <a:rPr lang="zh-CN" sz="2900" b="1">
                <a:solidFill>
                  <a:srgbClr val="FF0000"/>
                </a:solidFill>
                <a:sym typeface="+mn-ea"/>
              </a:rPr>
              <a:t>初始代码定义</a:t>
            </a:r>
          </a:p>
          <a:p>
            <a:pPr>
              <a:lnSpc>
                <a:spcPct val="100000"/>
              </a:lnSpc>
            </a:pPr>
            <a:r>
              <a:rPr lang="zh-CN" sz="2400">
                <a:sym typeface="+mn-ea"/>
              </a:rPr>
              <a:t>已经包含了一个</a:t>
            </a:r>
            <a:r>
              <a:rPr lang="zh-CN" sz="2400" b="1">
                <a:sym typeface="+mn-ea"/>
              </a:rPr>
              <a:t>命令行参数解析器（ArgParser）</a:t>
            </a:r>
            <a:r>
              <a:rPr lang="zh-CN" sz="2400">
                <a:sym typeface="+mn-ea"/>
              </a:rPr>
              <a:t>，以允许方便地访问命令行参数和标志。</a:t>
            </a:r>
          </a:p>
          <a:p>
            <a:pPr>
              <a:lnSpc>
                <a:spcPct val="100000"/>
              </a:lnSpc>
            </a:pPr>
            <a:r>
              <a:rPr lang="zh-CN" sz="2400">
                <a:sym typeface="+mn-ea"/>
              </a:rPr>
              <a:t>已经包含了</a:t>
            </a:r>
            <a:r>
              <a:rPr lang="zh-CN" sz="2400" b="1">
                <a:sym typeface="+mn-ea"/>
              </a:rPr>
              <a:t>场景解析器（</a:t>
            </a:r>
            <a:r>
              <a:rPr lang="en-US" altLang="zh-CN" sz="2400" b="1">
                <a:sym typeface="+mn-ea"/>
              </a:rPr>
              <a:t>SceneParser</a:t>
            </a:r>
            <a:r>
              <a:rPr lang="zh-CN" sz="2400" b="1">
                <a:sym typeface="+mn-ea"/>
              </a:rPr>
              <a:t>）</a:t>
            </a:r>
            <a:r>
              <a:rPr lang="zh-CN" sz="2400">
                <a:sym typeface="+mn-ea"/>
              </a:rPr>
              <a:t>，它读取文本文件和关联的images/.obj来解析定义的场景。解析器会调用了几个构造函数和</a:t>
            </a:r>
            <a:r>
              <a:rPr lang="en-US" altLang="zh-CN" sz="2400">
                <a:sym typeface="+mn-ea"/>
              </a:rPr>
              <a:t>Group::</a:t>
            </a:r>
            <a:r>
              <a:rPr lang="zh-CN" sz="2400">
                <a:sym typeface="+mn-ea"/>
              </a:rPr>
              <a:t>addObject方法。你可以查看数据文件夹中的文本文件，以了解场景是如何定义的。</a:t>
            </a:r>
          </a:p>
          <a:p>
            <a:pPr>
              <a:lnSpc>
                <a:spcPct val="100000"/>
              </a:lnSpc>
            </a:pPr>
            <a:r>
              <a:rPr lang="zh-CN" sz="2400" b="1">
                <a:sym typeface="+mn-ea"/>
              </a:rPr>
              <a:t>图像（</a:t>
            </a:r>
            <a:r>
              <a:rPr lang="en-US" altLang="zh-CN" sz="2400" b="1">
                <a:sym typeface="+mn-ea"/>
              </a:rPr>
              <a:t>Image</a:t>
            </a:r>
            <a:r>
              <a:rPr lang="zh-CN" sz="2400" b="1">
                <a:sym typeface="+mn-ea"/>
              </a:rPr>
              <a:t>）</a:t>
            </a:r>
            <a:r>
              <a:rPr lang="zh-CN" sz="2400">
                <a:sym typeface="+mn-ea"/>
              </a:rPr>
              <a:t>类用于初始化和编辑图像的RGB值。该类还包括用于保存简单的PNG图像文件的函数。你的程序将输入场景文本文件，计算正确的像素颜色，并将其保存为PNG，计算大部分在渲染器（</a:t>
            </a:r>
            <a:r>
              <a:rPr lang="en-US" altLang="zh-CN" sz="2400">
                <a:sym typeface="+mn-ea"/>
              </a:rPr>
              <a:t>Renderer</a:t>
            </a:r>
            <a:r>
              <a:rPr lang="zh-CN" sz="2400">
                <a:sym typeface="+mn-ea"/>
              </a:rPr>
              <a:t>）类中。</a:t>
            </a:r>
          </a:p>
          <a:p>
            <a:pPr>
              <a:lnSpc>
                <a:spcPct val="100000"/>
              </a:lnSpc>
            </a:pPr>
            <a:r>
              <a:rPr lang="zh-CN" sz="2400">
                <a:sym typeface="+mn-ea"/>
              </a:rPr>
              <a:t>已经包含了一个</a:t>
            </a:r>
            <a:r>
              <a:rPr lang="zh-CN" sz="2400" b="1">
                <a:sym typeface="+mn-ea"/>
              </a:rPr>
              <a:t>光线（</a:t>
            </a:r>
            <a:r>
              <a:rPr lang="en-US" altLang="zh-CN" sz="2400" b="1">
                <a:sym typeface="+mn-ea"/>
              </a:rPr>
              <a:t>Ray</a:t>
            </a:r>
            <a:r>
              <a:rPr lang="zh-CN" sz="2400" b="1">
                <a:sym typeface="+mn-ea"/>
              </a:rPr>
              <a:t>）类和一个命中点（</a:t>
            </a:r>
            <a:r>
              <a:rPr lang="en-US" altLang="zh-CN" sz="2400" b="1">
                <a:sym typeface="+mn-ea"/>
              </a:rPr>
              <a:t>Hit</a:t>
            </a:r>
            <a:r>
              <a:rPr lang="zh-CN" sz="2400" b="1">
                <a:sym typeface="+mn-ea"/>
              </a:rPr>
              <a:t>）类</a:t>
            </a:r>
            <a:r>
              <a:rPr lang="zh-CN" sz="2400">
                <a:sym typeface="+mn-ea"/>
              </a:rPr>
              <a:t>来操作相机光线及其交点。一条光线由它的原点和方向向量来表示。Hit类存储关于最近的相交点、法线、光线参数t的值和指向该交点处的对象的材质的指针的信息。</a:t>
            </a:r>
          </a:p>
          <a:p>
            <a:pPr>
              <a:lnSpc>
                <a:spcPct val="100000"/>
              </a:lnSpc>
            </a:pPr>
            <a:r>
              <a:rPr lang="zh-CN" sz="2400" b="1">
                <a:sym typeface="+mn-ea"/>
              </a:rPr>
              <a:t>命中点（</a:t>
            </a:r>
            <a:r>
              <a:rPr lang="en-US" altLang="zh-CN" sz="2400" b="1">
                <a:sym typeface="+mn-ea"/>
              </a:rPr>
              <a:t>Hit</a:t>
            </a:r>
            <a:r>
              <a:rPr lang="zh-CN" sz="2400" b="1">
                <a:sym typeface="+mn-ea"/>
              </a:rPr>
              <a:t>）</a:t>
            </a:r>
            <a:r>
              <a:rPr lang="zh-CN" sz="2400">
                <a:sym typeface="+mn-ea"/>
              </a:rPr>
              <a:t>数据结构必须用一个非常大的t值来初始化（例如std::numeric limit&lt;float&gt;()）。渲染过程中通过交点计算会修改命中点，以存储最近的光线参数t和相交对象的材质信息。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4801235" cy="4351655"/>
          </a:xfrm>
        </p:spPr>
        <p:txBody>
          <a:bodyPr>
            <a:normAutofit fontScale="92500" lnSpcReduction="10000"/>
          </a:bodyPr>
          <a:lstStyle/>
          <a:p>
            <a:pPr>
              <a:lnSpc>
                <a:spcPct val="100000"/>
              </a:lnSpc>
            </a:pPr>
            <a:r>
              <a:rPr lang="zh-CN" sz="2400" b="1">
                <a:solidFill>
                  <a:srgbClr val="FF0000"/>
                </a:solidFill>
                <a:sym typeface="+mn-ea"/>
              </a:rPr>
              <a:t>阅读</a:t>
            </a:r>
            <a:r>
              <a:rPr sz="2400" b="1">
                <a:solidFill>
                  <a:srgbClr val="FF0000"/>
                </a:solidFill>
                <a:sym typeface="+mn-ea"/>
              </a:rPr>
              <a:t>Render()</a:t>
            </a:r>
            <a:r>
              <a:rPr lang="zh-CN" sz="2400" b="1">
                <a:solidFill>
                  <a:srgbClr val="FF0000"/>
                </a:solidFill>
                <a:sym typeface="+mn-ea"/>
              </a:rPr>
              <a:t>函数</a:t>
            </a:r>
            <a:endParaRPr sz="2400" b="1">
              <a:solidFill>
                <a:srgbClr val="FF0000"/>
              </a:solidFill>
              <a:sym typeface="+mn-ea"/>
            </a:endParaRPr>
          </a:p>
          <a:p>
            <a:pPr>
              <a:lnSpc>
                <a:spcPct val="100000"/>
              </a:lnSpc>
            </a:pPr>
            <a:r>
              <a:rPr sz="2400" b="1">
                <a:solidFill>
                  <a:srgbClr val="FF0000"/>
                </a:solidFill>
                <a:sym typeface="+mn-ea"/>
              </a:rPr>
              <a:t>在Renderer::Render()中，</a:t>
            </a:r>
            <a:r>
              <a:rPr lang="zh-CN" sz="2400" b="1">
                <a:solidFill>
                  <a:srgbClr val="FF0000"/>
                </a:solidFill>
                <a:sym typeface="+mn-ea"/>
              </a:rPr>
              <a:t>已经</a:t>
            </a:r>
            <a:r>
              <a:rPr sz="2400" b="1">
                <a:solidFill>
                  <a:srgbClr val="FF0000"/>
                </a:solidFill>
                <a:sym typeface="+mn-ea"/>
              </a:rPr>
              <a:t>提供了</a:t>
            </a:r>
            <a:r>
              <a:rPr lang="zh-CN" sz="2400" b="1">
                <a:solidFill>
                  <a:srgbClr val="FF0000"/>
                </a:solidFill>
                <a:sym typeface="+mn-ea"/>
              </a:rPr>
              <a:t>光</a:t>
            </a:r>
            <a:r>
              <a:rPr sz="2400" b="1">
                <a:solidFill>
                  <a:srgbClr val="FF0000"/>
                </a:solidFill>
                <a:sym typeface="+mn-ea"/>
              </a:rPr>
              <a:t>线跟踪器的主循环。</a:t>
            </a:r>
            <a:r>
              <a:rPr lang="zh-CN" sz="2400" b="1">
                <a:solidFill>
                  <a:srgbClr val="FF0000"/>
                </a:solidFill>
                <a:sym typeface="+mn-ea"/>
              </a:rPr>
              <a:t>光线从相机出发，对于每个像素</a:t>
            </a:r>
            <a:r>
              <a:rPr lang="en-US" altLang="zh-CN" sz="2400" b="1">
                <a:solidFill>
                  <a:srgbClr val="FF0000"/>
                </a:solidFill>
                <a:sym typeface="+mn-ea"/>
              </a:rPr>
              <a:t>(ndcx</a:t>
            </a:r>
            <a:r>
              <a:rPr lang="zh-CN" altLang="en-US" sz="2400" b="1">
                <a:solidFill>
                  <a:srgbClr val="FF0000"/>
                </a:solidFill>
                <a:sym typeface="+mn-ea"/>
              </a:rPr>
              <a:t>，</a:t>
            </a:r>
            <a:r>
              <a:rPr lang="en-US" altLang="zh-CN" sz="2400" b="1">
                <a:solidFill>
                  <a:srgbClr val="FF0000"/>
                </a:solidFill>
                <a:sym typeface="+mn-ea"/>
              </a:rPr>
              <a:t>ndcy)</a:t>
            </a:r>
            <a:r>
              <a:rPr lang="zh-CN" altLang="en-US" sz="2400" b="1">
                <a:solidFill>
                  <a:srgbClr val="FF0000"/>
                </a:solidFill>
                <a:sym typeface="+mn-ea"/>
              </a:rPr>
              <a:t>发射。</a:t>
            </a:r>
            <a:r>
              <a:rPr sz="2400">
                <a:sym typeface="+mn-ea"/>
              </a:rPr>
              <a:t>Render()为每个相机光线调用traceRa</a:t>
            </a:r>
            <a:r>
              <a:rPr lang="en-US" sz="2400">
                <a:sym typeface="+mn-ea"/>
              </a:rPr>
              <a:t>y()</a:t>
            </a:r>
            <a:r>
              <a:rPr sz="2400">
                <a:sym typeface="+mn-ea"/>
              </a:rPr>
              <a:t>方法—</a:t>
            </a:r>
            <a:r>
              <a:rPr lang="zh-CN" sz="2400">
                <a:sym typeface="+mn-ea"/>
              </a:rPr>
              <a:t>你</a:t>
            </a:r>
            <a:r>
              <a:rPr sz="2400">
                <a:sym typeface="+mn-ea"/>
              </a:rPr>
              <a:t>的任务是实现traceRay</a:t>
            </a:r>
            <a:r>
              <a:rPr lang="en-US" sz="2400">
                <a:sym typeface="+mn-ea"/>
              </a:rPr>
              <a:t>()</a:t>
            </a:r>
            <a:r>
              <a:rPr lang="zh-CN" altLang="en-US" sz="2400">
                <a:sym typeface="+mn-ea"/>
              </a:rPr>
              <a:t>，也就是根据光线方向求解像素的颜色</a:t>
            </a:r>
            <a:r>
              <a:rPr sz="2400">
                <a:sym typeface="+mn-ea"/>
              </a:rPr>
              <a:t>。</a:t>
            </a:r>
          </a:p>
          <a:p>
            <a:pPr>
              <a:lnSpc>
                <a:spcPct val="100000"/>
              </a:lnSpc>
            </a:pPr>
            <a:r>
              <a:rPr lang="zh-CN" sz="2400">
                <a:sym typeface="+mn-ea"/>
              </a:rPr>
              <a:t>仔细阅读视角</a:t>
            </a:r>
            <a:r>
              <a:rPr sz="2400">
                <a:sym typeface="+mn-ea"/>
              </a:rPr>
              <a:t>相机</a:t>
            </a:r>
            <a:r>
              <a:rPr lang="zh-CN" sz="2400">
                <a:sym typeface="+mn-ea"/>
              </a:rPr>
              <a:t>类（</a:t>
            </a:r>
            <a:r>
              <a:rPr lang="en-US" altLang="zh-CN" sz="2400">
                <a:sym typeface="+mn-ea"/>
              </a:rPr>
              <a:t>PerspectiveCamera</a:t>
            </a:r>
            <a:r>
              <a:rPr lang="zh-CN" sz="2400">
                <a:sym typeface="+mn-ea"/>
              </a:rPr>
              <a:t>）</a:t>
            </a:r>
            <a:r>
              <a:rPr sz="2400">
                <a:sym typeface="+mn-ea"/>
              </a:rPr>
              <a:t>。它</a:t>
            </a:r>
            <a:r>
              <a:rPr lang="zh-CN" sz="2400">
                <a:sym typeface="+mn-ea"/>
              </a:rPr>
              <a:t>已经</a:t>
            </a:r>
            <a:r>
              <a:rPr sz="2400">
                <a:sym typeface="+mn-ea"/>
              </a:rPr>
              <a:t>实现，但是</a:t>
            </a:r>
            <a:r>
              <a:rPr lang="zh-CN" sz="2400">
                <a:sym typeface="+mn-ea"/>
              </a:rPr>
              <a:t>你</a:t>
            </a:r>
            <a:r>
              <a:rPr sz="2400">
                <a:sym typeface="+mn-ea"/>
              </a:rPr>
              <a:t>应该理解代码是做什么的。</a:t>
            </a:r>
          </a:p>
          <a:p>
            <a:pPr>
              <a:lnSpc>
                <a:spcPct val="100000"/>
              </a:lnSpc>
            </a:pPr>
            <a:endParaRPr sz="2400">
              <a:sym typeface="+mn-ea"/>
            </a:endParaRPr>
          </a:p>
        </p:txBody>
      </p:sp>
      <p:pic>
        <p:nvPicPr>
          <p:cNvPr id="4" name="图片 3"/>
          <p:cNvPicPr>
            <a:picLocks noChangeAspect="1"/>
          </p:cNvPicPr>
          <p:nvPr>
            <p:custDataLst>
              <p:tags r:id="rId1"/>
            </p:custDataLst>
          </p:nvPr>
        </p:nvPicPr>
        <p:blipFill>
          <a:blip r:embed="rId3"/>
          <a:srcRect t="13075"/>
          <a:stretch>
            <a:fillRect/>
          </a:stretch>
        </p:blipFill>
        <p:spPr>
          <a:xfrm>
            <a:off x="5777230" y="2368550"/>
            <a:ext cx="5467985" cy="3608705"/>
          </a:xfrm>
          <a:prstGeom prst="rect">
            <a:avLst/>
          </a:prstGeom>
        </p:spPr>
      </p:pic>
      <p:pic>
        <p:nvPicPr>
          <p:cNvPr id="100" name="图片 99"/>
          <p:cNvPicPr/>
          <p:nvPr/>
        </p:nvPicPr>
        <p:blipFill>
          <a:blip r:embed="rId4"/>
          <a:stretch>
            <a:fillRect/>
          </a:stretch>
        </p:blipFill>
        <p:spPr>
          <a:xfrm>
            <a:off x="6877050" y="365125"/>
            <a:ext cx="4465320" cy="296672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Project 2.1 Phong</a:t>
            </a:r>
            <a:r>
              <a:rPr lang="zh-CN" altLang="en-US"/>
              <a:t>光照模型</a:t>
            </a:r>
          </a:p>
        </p:txBody>
      </p:sp>
      <p:sp>
        <p:nvSpPr>
          <p:cNvPr id="3" name="内容占位符 2"/>
          <p:cNvSpPr>
            <a:spLocks noGrp="1"/>
          </p:cNvSpPr>
          <p:nvPr>
            <p:ph idx="1"/>
          </p:nvPr>
        </p:nvSpPr>
        <p:spPr/>
        <p:txBody>
          <a:bodyPr/>
          <a:lstStyle/>
          <a:p>
            <a:r>
              <a:rPr lang="zh-CN" altLang="en-US" dirty="0"/>
              <a:t>任务</a:t>
            </a:r>
            <a:r>
              <a:rPr lang="en-US" altLang="zh-CN" dirty="0"/>
              <a:t>1</a:t>
            </a:r>
            <a:r>
              <a:rPr lang="zh-CN" altLang="en-US" dirty="0"/>
              <a:t>要求：</a:t>
            </a:r>
          </a:p>
          <a:p>
            <a:r>
              <a:rPr lang="zh-CN" dirty="0">
                <a:sym typeface="+mn-ea"/>
              </a:rPr>
              <a:t>你</a:t>
            </a:r>
            <a:r>
              <a:rPr dirty="0" err="1">
                <a:sym typeface="+mn-ea"/>
              </a:rPr>
              <a:t>将实现点光源和Phong反射率模型</a:t>
            </a:r>
            <a:r>
              <a:rPr dirty="0">
                <a:sym typeface="+mn-ea"/>
              </a:rPr>
              <a:t>。</a:t>
            </a:r>
          </a:p>
          <a:p>
            <a:r>
              <a:rPr lang="zh-CN" altLang="en-US" dirty="0">
                <a:solidFill>
                  <a:srgbClr val="FF0000"/>
                </a:solidFill>
              </a:rPr>
              <a:t>你需要实现</a:t>
            </a:r>
            <a:r>
              <a:rPr lang="en-US" altLang="zh-CN" dirty="0">
                <a:solidFill>
                  <a:srgbClr val="FF0000"/>
                </a:solidFill>
              </a:rPr>
              <a:t>Light.cpp</a:t>
            </a:r>
            <a:r>
              <a:rPr lang="zh-CN" altLang="en-US" dirty="0">
                <a:solidFill>
                  <a:srgbClr val="FF0000"/>
                </a:solidFill>
              </a:rPr>
              <a:t>中的</a:t>
            </a:r>
            <a:r>
              <a:rPr lang="en-US" altLang="zh-CN" dirty="0" err="1">
                <a:solidFill>
                  <a:srgbClr val="FF0000"/>
                </a:solidFill>
              </a:rPr>
              <a:t>PointLight</a:t>
            </a:r>
            <a:r>
              <a:rPr lang="en-US" altLang="zh-CN" dirty="0">
                <a:solidFill>
                  <a:srgbClr val="FF0000"/>
                </a:solidFill>
              </a:rPr>
              <a:t>::</a:t>
            </a:r>
            <a:r>
              <a:rPr lang="zh-CN" altLang="en-US" dirty="0">
                <a:solidFill>
                  <a:srgbClr val="FF0000"/>
                </a:solidFill>
              </a:rPr>
              <a:t>getIllumination()方法，Material.cpp中的Material::shade</a:t>
            </a:r>
            <a:r>
              <a:rPr lang="en-US" altLang="zh-CN" dirty="0">
                <a:solidFill>
                  <a:srgbClr val="FF0000"/>
                </a:solidFill>
              </a:rPr>
              <a:t>()</a:t>
            </a:r>
            <a:r>
              <a:rPr lang="zh-CN" altLang="en-US" dirty="0">
                <a:solidFill>
                  <a:srgbClr val="FF0000"/>
                </a:solidFill>
              </a:rPr>
              <a:t>方法，</a:t>
            </a:r>
            <a:r>
              <a:rPr lang="en-US" altLang="zh-CN" dirty="0">
                <a:solidFill>
                  <a:srgbClr val="FF0000"/>
                </a:solidFill>
              </a:rPr>
              <a:t>Renderer.cpp</a:t>
            </a:r>
            <a:r>
              <a:rPr lang="zh-CN" altLang="en-US" dirty="0">
                <a:solidFill>
                  <a:srgbClr val="FF0000"/>
                </a:solidFill>
              </a:rPr>
              <a:t>中的Renderer::traceRay(</a:t>
            </a:r>
            <a:r>
              <a:rPr lang="en-US" altLang="zh-CN" dirty="0">
                <a:solidFill>
                  <a:srgbClr val="FF0000"/>
                </a:solidFill>
              </a:rPr>
              <a:t>)</a:t>
            </a:r>
            <a:r>
              <a:rPr lang="zh-CN" altLang="en-US" dirty="0">
                <a:solidFill>
                  <a:srgbClr val="FF0000"/>
                </a:solidFill>
              </a:rPr>
              <a:t>方法。</a:t>
            </a:r>
          </a:p>
          <a:p>
            <a:r>
              <a:rPr lang="zh-CN" altLang="en-US" dirty="0">
                <a:solidFill>
                  <a:srgbClr val="FF0000"/>
                </a:solidFill>
              </a:rPr>
              <a:t>请参考教材《计算机图形学》</a:t>
            </a:r>
            <a:r>
              <a:rPr lang="en-US" altLang="zh-CN" dirty="0">
                <a:solidFill>
                  <a:srgbClr val="FF0000"/>
                </a:solidFill>
              </a:rPr>
              <a:t>P301</a:t>
            </a:r>
            <a:r>
              <a:rPr lang="zh-CN" altLang="en-US" dirty="0">
                <a:solidFill>
                  <a:srgbClr val="FF0000"/>
                </a:solidFill>
              </a:rPr>
              <a:t>第13</a:t>
            </a:r>
            <a:r>
              <a:rPr lang="en-US" altLang="zh-CN" dirty="0">
                <a:solidFill>
                  <a:srgbClr val="FF0000"/>
                </a:solidFill>
              </a:rPr>
              <a:t>.1</a:t>
            </a:r>
            <a:r>
              <a:rPr lang="zh-CN" altLang="en-US" dirty="0">
                <a:solidFill>
                  <a:srgbClr val="FF0000"/>
                </a:solidFill>
              </a:rPr>
              <a:t>章简单光照明模型</a:t>
            </a:r>
            <a:r>
              <a:rPr lang="zh-CN" altLang="en-US" dirty="0">
                <a:solidFill>
                  <a:schemeClr val="tx1"/>
                </a:solidFill>
              </a:rPr>
              <a:t>或者《</a:t>
            </a:r>
            <a:r>
              <a:rPr lang="zh-CN" altLang="en-US" dirty="0">
                <a:solidFill>
                  <a:schemeClr val="tx1"/>
                </a:solidFill>
                <a:sym typeface="+mn-ea"/>
              </a:rPr>
              <a:t>Fundamentals of Computer Graphics</a:t>
            </a:r>
            <a:r>
              <a:rPr lang="zh-CN" altLang="en-US" dirty="0">
                <a:solidFill>
                  <a:schemeClr val="tx1"/>
                </a:solidFill>
              </a:rPr>
              <a:t>》4.5 Shading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577975"/>
            <a:ext cx="5257800" cy="4351655"/>
          </a:xfrm>
        </p:spPr>
        <p:txBody>
          <a:bodyPr>
            <a:noAutofit/>
          </a:bodyPr>
          <a:lstStyle/>
          <a:p>
            <a:pPr>
              <a:lnSpc>
                <a:spcPct val="100000"/>
              </a:lnSpc>
            </a:pPr>
            <a:r>
              <a:rPr lang="zh-CN" altLang="en-US" sz="1600" b="1">
                <a:solidFill>
                  <a:srgbClr val="FF0000"/>
                </a:solidFill>
              </a:rPr>
              <a:t>阅读</a:t>
            </a:r>
            <a:r>
              <a:rPr lang="zh-CN" altLang="en-US" sz="1600" b="1">
                <a:solidFill>
                  <a:srgbClr val="FF0000"/>
                </a:solidFill>
                <a:sym typeface="+mn-ea"/>
              </a:rPr>
              <a:t>getIllumination()函数</a:t>
            </a:r>
            <a:endParaRPr lang="zh-CN" altLang="en-US" sz="1600" b="1">
              <a:solidFill>
                <a:srgbClr val="FF0000"/>
              </a:solidFill>
            </a:endParaRPr>
          </a:p>
          <a:p>
            <a:pPr marL="0" indent="0">
              <a:lnSpc>
                <a:spcPct val="100000"/>
              </a:lnSpc>
              <a:buNone/>
            </a:pPr>
            <a:r>
              <a:rPr lang="zh-CN" altLang="en-US" sz="1600" b="1">
                <a:solidFill>
                  <a:srgbClr val="FF0000"/>
                </a:solidFill>
              </a:rPr>
              <a:t>首先，您将需要实现</a:t>
            </a:r>
            <a:r>
              <a:rPr lang="en-US" altLang="zh-CN" sz="1600" b="1">
                <a:solidFill>
                  <a:srgbClr val="FF0000"/>
                </a:solidFill>
                <a:sym typeface="+mn-ea"/>
              </a:rPr>
              <a:t>Light.cpp</a:t>
            </a:r>
            <a:r>
              <a:rPr lang="zh-CN" altLang="en-US" sz="1600" b="1">
                <a:solidFill>
                  <a:srgbClr val="FF0000"/>
                </a:solidFill>
                <a:sym typeface="+mn-ea"/>
              </a:rPr>
              <a:t>中的</a:t>
            </a:r>
            <a:r>
              <a:rPr lang="zh-CN" altLang="en-US" sz="1600" b="1">
                <a:solidFill>
                  <a:srgbClr val="FF0000"/>
                </a:solidFill>
              </a:rPr>
              <a:t>PointLight::getIllumination()方法。</a:t>
            </a:r>
            <a:r>
              <a:rPr lang="en-US" altLang="zh-CN" sz="1600" b="1">
                <a:solidFill>
                  <a:srgbClr val="FF0000"/>
                </a:solidFill>
                <a:sym typeface="+mn-ea"/>
              </a:rPr>
              <a:t>Directional</a:t>
            </a:r>
            <a:r>
              <a:rPr lang="zh-CN" altLang="en-US" sz="1600" b="1">
                <a:solidFill>
                  <a:srgbClr val="FF0000"/>
                </a:solidFill>
                <a:sym typeface="+mn-ea"/>
              </a:rPr>
              <a:t>Light::getIllumination()已经实现了。</a:t>
            </a:r>
          </a:p>
          <a:p>
            <a:pPr marL="0" indent="0">
              <a:lnSpc>
                <a:spcPct val="100000"/>
              </a:lnSpc>
              <a:buNone/>
            </a:pPr>
            <a:r>
              <a:rPr lang="zh-CN" altLang="en-US" sz="1600"/>
              <a:t>这个函数输入在空间中的一个点并修改以下三个值：</a:t>
            </a:r>
          </a:p>
          <a:p>
            <a:pPr marL="0" indent="0">
              <a:lnSpc>
                <a:spcPct val="100000"/>
              </a:lnSpc>
              <a:buNone/>
            </a:pPr>
            <a:r>
              <a:rPr lang="zh-CN" altLang="en-US" sz="1600"/>
              <a:t>(a)</a:t>
            </a:r>
            <a:r>
              <a:rPr lang="en-US" altLang="zh-CN" sz="1600"/>
              <a:t>tolight</a:t>
            </a:r>
            <a:r>
              <a:rPr lang="zh-CN" altLang="en-US" sz="1600"/>
              <a:t>：从场景中一个点指向到光源的方向矢量（归一化后的）。</a:t>
            </a:r>
          </a:p>
          <a:p>
            <a:pPr marL="0" indent="0">
              <a:lnSpc>
                <a:spcPct val="100000"/>
              </a:lnSpc>
              <a:buNone/>
            </a:pPr>
            <a:r>
              <a:rPr lang="zh-CN" altLang="en-US" sz="1600"/>
              <a:t>(b)</a:t>
            </a:r>
            <a:r>
              <a:rPr lang="en-US" altLang="zh-CN" sz="1600"/>
              <a:t>intensity</a:t>
            </a:r>
            <a:r>
              <a:rPr lang="zh-CN" altLang="en-US" sz="1600"/>
              <a:t>：此时的照明强度（RGB）。</a:t>
            </a:r>
          </a:p>
          <a:p>
            <a:pPr marL="0" indent="0">
              <a:lnSpc>
                <a:spcPct val="100000"/>
              </a:lnSpc>
              <a:buNone/>
            </a:pPr>
            <a:r>
              <a:rPr lang="zh-CN" altLang="en-US" sz="1600"/>
              <a:t>(c)</a:t>
            </a:r>
            <a:r>
              <a:rPr lang="en-US" altLang="zh-CN" sz="1600"/>
              <a:t>distToLight</a:t>
            </a:r>
            <a:r>
              <a:rPr lang="zh-CN" altLang="en-US" sz="1600"/>
              <a:t>：场景点与光源之间的距离。</a:t>
            </a:r>
          </a:p>
          <a:p>
            <a:pPr marL="0" indent="0">
              <a:lnSpc>
                <a:spcPct val="100000"/>
              </a:lnSpc>
              <a:buNone/>
            </a:pPr>
            <a:r>
              <a:rPr lang="zh-CN" altLang="en-US" sz="1600"/>
              <a:t>距离场景点</a:t>
            </a:r>
            <a:r>
              <a:rPr lang="en-US" altLang="zh-CN" sz="1600"/>
              <a:t>x_</a:t>
            </a:r>
            <a:r>
              <a:rPr lang="zh-CN" altLang="en-US" sz="1600"/>
              <a:t>surf的距离为d的点光的强度由下面公式定义。</a:t>
            </a:r>
          </a:p>
          <a:p>
            <a:pPr marL="0" indent="0">
              <a:lnSpc>
                <a:spcPct val="100000"/>
              </a:lnSpc>
              <a:buNone/>
            </a:pPr>
            <a:endParaRPr lang="zh-CN" altLang="en-US" sz="1600"/>
          </a:p>
          <a:p>
            <a:pPr marL="0" indent="0">
              <a:lnSpc>
                <a:spcPct val="100000"/>
              </a:lnSpc>
              <a:buNone/>
            </a:pPr>
            <a:endParaRPr lang="zh-CN" altLang="en-US" sz="1600"/>
          </a:p>
          <a:p>
            <a:pPr marL="0" indent="0">
              <a:lnSpc>
                <a:spcPct val="100000"/>
              </a:lnSpc>
              <a:buNone/>
            </a:pPr>
            <a:r>
              <a:rPr lang="zh-CN" altLang="en-US" sz="1600"/>
              <a:t>其中I是光源的颜色。</a:t>
            </a:r>
            <a:r>
              <a:rPr lang="zh-CN" altLang="en-US" sz="1600">
                <a:sym typeface="+mn-ea"/>
              </a:rPr>
              <a:t>α是</a:t>
            </a:r>
            <a:r>
              <a:rPr lang="zh-CN" altLang="en-US" sz="1600"/>
              <a:t>衰减因子，光强随距离平方衰减，由</a:t>
            </a:r>
            <a:r>
              <a:rPr lang="en-US" altLang="zh-CN" sz="1600"/>
              <a:t>PointLight</a:t>
            </a:r>
            <a:r>
              <a:rPr lang="zh-CN" altLang="en-US" sz="1600"/>
              <a:t>类的_falloff决定。</a:t>
            </a:r>
          </a:p>
        </p:txBody>
      </p:sp>
      <p:pic>
        <p:nvPicPr>
          <p:cNvPr id="4" name="图片 3"/>
          <p:cNvPicPr>
            <a:picLocks noChangeAspect="1"/>
          </p:cNvPicPr>
          <p:nvPr>
            <p:custDataLst>
              <p:tags r:id="rId1"/>
            </p:custDataLst>
          </p:nvPr>
        </p:nvPicPr>
        <p:blipFill>
          <a:blip r:embed="rId4"/>
          <a:stretch>
            <a:fillRect/>
          </a:stretch>
        </p:blipFill>
        <p:spPr>
          <a:xfrm>
            <a:off x="2273935" y="4874260"/>
            <a:ext cx="1818005" cy="746760"/>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6191250" y="1766570"/>
            <a:ext cx="5229225" cy="4295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577975"/>
            <a:ext cx="9667875" cy="4351655"/>
          </a:xfrm>
        </p:spPr>
        <p:txBody>
          <a:bodyPr>
            <a:noAutofit/>
          </a:bodyPr>
          <a:lstStyle/>
          <a:p>
            <a:pPr>
              <a:lnSpc>
                <a:spcPct val="100000"/>
              </a:lnSpc>
            </a:pPr>
            <a:r>
              <a:rPr sz="2000">
                <a:solidFill>
                  <a:srgbClr val="FF0000"/>
                </a:solidFill>
              </a:rPr>
              <a:t>Phong lighting 是一个简单的光照模型，也有别名叫做 Phong reflection model、Phong illumination</a:t>
            </a:r>
            <a:r>
              <a:rPr lang="zh-CN" sz="2000">
                <a:solidFill>
                  <a:srgbClr val="FF0000"/>
                </a:solidFill>
              </a:rPr>
              <a:t>。</a:t>
            </a:r>
            <a:r>
              <a:rPr sz="2000">
                <a:solidFill>
                  <a:schemeClr val="tx1"/>
                </a:solidFill>
              </a:rPr>
              <a:t>在这个模型下：我们把光分为 环境光（Ambient）、散射光（Diffuse）、镜面光照（Specular），著名的示意图如下：</a:t>
            </a:r>
          </a:p>
        </p:txBody>
      </p:sp>
      <p:pic>
        <p:nvPicPr>
          <p:cNvPr id="6" name="图片 5"/>
          <p:cNvPicPr>
            <a:picLocks noChangeAspect="1"/>
          </p:cNvPicPr>
          <p:nvPr>
            <p:custDataLst>
              <p:tags r:id="rId1"/>
            </p:custDataLst>
          </p:nvPr>
        </p:nvPicPr>
        <p:blipFill>
          <a:blip r:embed="rId3"/>
          <a:stretch>
            <a:fillRect/>
          </a:stretch>
        </p:blipFill>
        <p:spPr>
          <a:xfrm>
            <a:off x="1581150" y="3248660"/>
            <a:ext cx="9029700" cy="2413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p:txBody>
          <a:bodyPr/>
          <a:lstStyle/>
          <a:p>
            <a:pPr marL="0" indent="0">
              <a:buNone/>
            </a:pPr>
            <a:r>
              <a:rPr lang="zh-CN" altLang="en-US" sz="2000">
                <a:solidFill>
                  <a:srgbClr val="FF0000"/>
                </a:solidFill>
              </a:rPr>
              <a:t>然后你将在</a:t>
            </a:r>
            <a:r>
              <a:rPr lang="zh-CN" altLang="en-US" sz="2000">
                <a:solidFill>
                  <a:srgbClr val="FF0000"/>
                </a:solidFill>
                <a:sym typeface="+mn-ea"/>
              </a:rPr>
              <a:t>Material.cpp中的Material::shade</a:t>
            </a:r>
            <a:r>
              <a:rPr lang="en-US" altLang="zh-CN" sz="2000">
                <a:solidFill>
                  <a:srgbClr val="FF0000"/>
                </a:solidFill>
                <a:sym typeface="+mn-ea"/>
              </a:rPr>
              <a:t>()</a:t>
            </a:r>
            <a:r>
              <a:rPr lang="zh-CN" altLang="en-US" sz="2000">
                <a:solidFill>
                  <a:srgbClr val="FF0000"/>
                </a:solidFill>
              </a:rPr>
              <a:t>实现漫反射（</a:t>
            </a:r>
            <a:r>
              <a:rPr lang="en-US" altLang="zh-CN" sz="2000">
                <a:solidFill>
                  <a:srgbClr val="FF0000"/>
                </a:solidFill>
              </a:rPr>
              <a:t>diffuse</a:t>
            </a:r>
            <a:r>
              <a:rPr lang="zh-CN" altLang="en-US" sz="2000">
                <a:solidFill>
                  <a:srgbClr val="FF0000"/>
                </a:solidFill>
              </a:rPr>
              <a:t>）着色器。</a:t>
            </a:r>
            <a:r>
              <a:rPr lang="zh-CN" altLang="en-US" sz="2000"/>
              <a:t>对于给定的点光源生成照明值， Material::shade中将实现Phong着色模型。也就是说给定光线方向L和屏幕法向量N，当</a:t>
            </a:r>
            <a:r>
              <a:rPr lang="en-US" altLang="zh-CN" sz="2000"/>
              <a:t>L·N</a:t>
            </a:r>
            <a:r>
              <a:rPr lang="zh-CN" altLang="en-US" sz="2000"/>
              <a:t>小于</a:t>
            </a:r>
            <a:r>
              <a:rPr lang="en-US" altLang="zh-CN" sz="2000"/>
              <a:t>0</a:t>
            </a:r>
            <a:r>
              <a:rPr lang="zh-CN" altLang="en-US" sz="2000"/>
              <a:t>时，光源在切平面以下，不计算漫反射。我们计算漫反射阴影如下：</a:t>
            </a:r>
          </a:p>
          <a:p>
            <a:pPr marL="0" indent="0">
              <a:buNone/>
            </a:pPr>
            <a:endParaRPr lang="zh-CN" altLang="en-US" sz="2000"/>
          </a:p>
          <a:p>
            <a:pPr marL="0" indent="0">
              <a:buNone/>
            </a:pPr>
            <a:endParaRPr lang="zh-CN" altLang="en-US" sz="2000"/>
          </a:p>
          <a:p>
            <a:pPr marL="0" indent="0">
              <a:buNone/>
            </a:pPr>
            <a:r>
              <a:rPr lang="zh-CN" altLang="en-US" sz="2000"/>
              <a:t>结合漫反射材料的反射率</a:t>
            </a:r>
            <a:r>
              <a:rPr lang="en-US" altLang="zh-CN" sz="2000"/>
              <a:t>k_diffuse</a:t>
            </a:r>
            <a:r>
              <a:rPr lang="zh-CN" altLang="en-US" sz="2000"/>
              <a:t>和光强L，漫反射的强度为：</a:t>
            </a:r>
          </a:p>
          <a:p>
            <a:pPr marL="0" indent="0">
              <a:buNone/>
            </a:pPr>
            <a:endParaRPr lang="zh-CN" altLang="en-US" sz="2000"/>
          </a:p>
          <a:p>
            <a:pPr marL="0" indent="0">
              <a:buNone/>
            </a:pPr>
            <a:endParaRPr lang="zh-CN" altLang="en-US" sz="2000"/>
          </a:p>
          <a:p>
            <a:pPr marL="0" indent="0">
              <a:buNone/>
            </a:pPr>
            <a:r>
              <a:rPr lang="zh-CN" altLang="en-US" sz="2000"/>
              <a:t>注意每个</a:t>
            </a:r>
            <a:r>
              <a:rPr lang="en-US" altLang="zh-CN" sz="2000"/>
              <a:t>RGB</a:t>
            </a:r>
            <a:r>
              <a:rPr lang="zh-CN" altLang="en-US" sz="2000"/>
              <a:t>通道单独计算。</a:t>
            </a:r>
            <a:r>
              <a:rPr lang="en-US" altLang="zh-CN" sz="2000">
                <a:sym typeface="+mn-ea"/>
              </a:rPr>
              <a:t>k_diffuse</a:t>
            </a:r>
            <a:r>
              <a:rPr lang="zh-CN" altLang="en-US" sz="2000"/>
              <a:t>由</a:t>
            </a:r>
            <a:r>
              <a:rPr lang="en-US" altLang="zh-CN" sz="2000"/>
              <a:t>Material</a:t>
            </a:r>
            <a:r>
              <a:rPr lang="zh-CN" altLang="en-US" sz="2000"/>
              <a:t>类的_diffuseColor决定。</a:t>
            </a:r>
          </a:p>
          <a:p>
            <a:pPr marL="0" indent="0">
              <a:buNone/>
            </a:pPr>
            <a:endParaRPr lang="zh-CN" altLang="en-US" sz="2000"/>
          </a:p>
          <a:p>
            <a:pPr marL="0" indent="0">
              <a:buNone/>
            </a:pPr>
            <a:endParaRPr lang="zh-CN" altLang="en-US" sz="2000"/>
          </a:p>
          <a:p>
            <a:pPr marL="0" indent="0">
              <a:buNone/>
            </a:pPr>
            <a:endParaRPr lang="zh-CN" altLang="en-US" sz="2000"/>
          </a:p>
          <a:p>
            <a:endParaRPr lang="zh-CN" altLang="en-US" sz="2000"/>
          </a:p>
        </p:txBody>
      </p:sp>
      <p:pic>
        <p:nvPicPr>
          <p:cNvPr id="4" name="图片 3"/>
          <p:cNvPicPr>
            <a:picLocks noChangeAspect="1"/>
          </p:cNvPicPr>
          <p:nvPr>
            <p:custDataLst>
              <p:tags r:id="rId1"/>
            </p:custDataLst>
          </p:nvPr>
        </p:nvPicPr>
        <p:blipFill>
          <a:blip r:embed="rId5"/>
          <a:stretch>
            <a:fillRect/>
          </a:stretch>
        </p:blipFill>
        <p:spPr>
          <a:xfrm>
            <a:off x="4462145" y="2701925"/>
            <a:ext cx="3362325" cy="800100"/>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4462145" y="3968115"/>
            <a:ext cx="3267075" cy="581025"/>
          </a:xfrm>
          <a:prstGeom prst="rect">
            <a:avLst/>
          </a:prstGeom>
        </p:spPr>
      </p:pic>
      <p:pic>
        <p:nvPicPr>
          <p:cNvPr id="7" name="图片 6"/>
          <p:cNvPicPr>
            <a:picLocks noChangeAspect="1"/>
          </p:cNvPicPr>
          <p:nvPr>
            <p:custDataLst>
              <p:tags r:id="rId3"/>
            </p:custDataLst>
          </p:nvPr>
        </p:nvPicPr>
        <p:blipFill>
          <a:blip r:embed="rId7"/>
          <a:stretch>
            <a:fillRect/>
          </a:stretch>
        </p:blipFill>
        <p:spPr>
          <a:xfrm>
            <a:off x="8285480" y="2701925"/>
            <a:ext cx="2973070" cy="18713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p:txBody>
          <a:bodyPr/>
          <a:lstStyle/>
          <a:p>
            <a:pPr marL="0" indent="0">
              <a:buNone/>
            </a:pPr>
            <a:r>
              <a:rPr lang="zh-CN" altLang="en-US" sz="2000">
                <a:solidFill>
                  <a:srgbClr val="FF0000"/>
                </a:solidFill>
              </a:rPr>
              <a:t>接着你将实现</a:t>
            </a:r>
            <a:r>
              <a:rPr lang="en-US" altLang="zh-CN" sz="2000">
                <a:solidFill>
                  <a:srgbClr val="FF0000"/>
                </a:solidFill>
              </a:rPr>
              <a:t>Phong</a:t>
            </a:r>
            <a:r>
              <a:rPr lang="zh-CN" altLang="en-US" sz="2000">
                <a:solidFill>
                  <a:srgbClr val="FF0000"/>
                </a:solidFill>
                <a:sym typeface="+mn-ea"/>
              </a:rPr>
              <a:t>着色器的</a:t>
            </a:r>
            <a:r>
              <a:rPr lang="zh-CN" altLang="en-US" sz="2000">
                <a:solidFill>
                  <a:srgbClr val="FF0000"/>
                </a:solidFill>
              </a:rPr>
              <a:t>镜面反射（</a:t>
            </a:r>
            <a:r>
              <a:rPr lang="en-US" altLang="zh-CN" sz="2000">
                <a:solidFill>
                  <a:srgbClr val="FF0000"/>
                </a:solidFill>
              </a:rPr>
              <a:t>specular</a:t>
            </a:r>
            <a:r>
              <a:rPr lang="zh-CN" altLang="en-US" sz="2000">
                <a:solidFill>
                  <a:srgbClr val="FF0000"/>
                </a:solidFill>
              </a:rPr>
              <a:t>）。</a:t>
            </a:r>
            <a:r>
              <a:rPr lang="zh-CN" altLang="en-US" sz="2000"/>
              <a:t>镜面反射强度取决于：光泽度s、表面对眼睛的方向E、完美反射</a:t>
            </a:r>
            <a:r>
              <a:rPr lang="zh-CN" altLang="en-US" sz="2000">
                <a:sym typeface="+mn-ea"/>
              </a:rPr>
              <a:t>矢量R</a:t>
            </a:r>
            <a:r>
              <a:rPr lang="zh-CN" altLang="en-US" sz="2000"/>
              <a:t>、对光的方向L和表面法线</a:t>
            </a:r>
            <a:r>
              <a:rPr lang="en-US" altLang="zh-CN" sz="2000"/>
              <a:t>N</a:t>
            </a:r>
            <a:r>
              <a:rPr lang="zh-CN" altLang="en-US" sz="2000"/>
              <a:t>。镜面</a:t>
            </a:r>
            <a:r>
              <a:rPr lang="zh-CN" altLang="en-US" sz="2000">
                <a:sym typeface="+mn-ea"/>
              </a:rPr>
              <a:t>反射</a:t>
            </a:r>
            <a:r>
              <a:rPr lang="zh-CN" altLang="en-US" sz="2000"/>
              <a:t>项的公式为：</a:t>
            </a:r>
          </a:p>
          <a:p>
            <a:pPr marL="0" indent="0">
              <a:buNone/>
            </a:pPr>
            <a:endParaRPr lang="zh-CN" altLang="en-US" sz="2000"/>
          </a:p>
          <a:p>
            <a:pPr marL="0" indent="0">
              <a:buNone/>
            </a:pPr>
            <a:endParaRPr lang="zh-CN" altLang="en-US" sz="2000"/>
          </a:p>
          <a:p>
            <a:pPr marL="0" indent="0">
              <a:buNone/>
            </a:pPr>
            <a:r>
              <a:rPr lang="zh-CN" altLang="en-US" sz="2000"/>
              <a:t>这个公式与漫反射相似，但是，现在我们使用</a:t>
            </a:r>
            <a:r>
              <a:rPr lang="zh-CN" altLang="en-US" sz="2000">
                <a:sym typeface="+mn-ea"/>
              </a:rPr>
              <a:t>完美反射矢量R和</a:t>
            </a:r>
            <a:r>
              <a:rPr lang="en-US" altLang="zh-CN" sz="2000">
                <a:sym typeface="+mn-ea"/>
              </a:rPr>
              <a:t>L</a:t>
            </a:r>
            <a:r>
              <a:rPr lang="zh-CN" altLang="en-US" sz="2000">
                <a:sym typeface="+mn-ea"/>
              </a:rPr>
              <a:t>的夹角表示</a:t>
            </a:r>
            <a:r>
              <a:rPr lang="zh-CN" altLang="en-US" sz="2000"/>
              <a:t>，这能使得高光随着相机的移动而移动。同时，我们将</a:t>
            </a:r>
            <a:r>
              <a:rPr lang="zh-CN" altLang="en-US" sz="2000">
                <a:sym typeface="+mn-ea"/>
              </a:rPr>
              <a:t>镜面反射计算</a:t>
            </a:r>
            <a:r>
              <a:rPr lang="en-US" altLang="zh-CN" sz="2000">
                <a:sym typeface="+mn-ea"/>
              </a:rPr>
              <a:t>s</a:t>
            </a:r>
            <a:r>
              <a:rPr lang="zh-CN" altLang="en-US" sz="2000">
                <a:sym typeface="+mn-ea"/>
              </a:rPr>
              <a:t>幂</a:t>
            </a:r>
            <a:r>
              <a:rPr lang="zh-CN" altLang="en-US" sz="2000"/>
              <a:t>，较高的光泽s使高亮部分更窄，表面显得更有光泽，较小的s使表面显得更有哑光外观。</a:t>
            </a:r>
            <a:r>
              <a:rPr lang="en-US" altLang="zh-CN" sz="2000"/>
              <a:t>k_specular</a:t>
            </a:r>
            <a:r>
              <a:rPr lang="zh-CN" altLang="en-US" sz="2000"/>
              <a:t>由</a:t>
            </a:r>
            <a:r>
              <a:rPr lang="en-US" altLang="zh-CN" sz="2000"/>
              <a:t>Material</a:t>
            </a:r>
            <a:r>
              <a:rPr lang="zh-CN" altLang="en-US" sz="2000"/>
              <a:t>类的_specularColor决定。</a:t>
            </a:r>
          </a:p>
          <a:p>
            <a:pPr marL="0" indent="0">
              <a:buNone/>
            </a:pPr>
            <a:endParaRPr lang="zh-CN" altLang="en-US" sz="2000"/>
          </a:p>
          <a:p>
            <a:pPr marL="0" indent="0">
              <a:buNone/>
            </a:pPr>
            <a:endParaRPr lang="zh-CN" altLang="en-US" sz="2000"/>
          </a:p>
          <a:p>
            <a:endParaRPr lang="zh-CN" altLang="en-US" sz="2000"/>
          </a:p>
        </p:txBody>
      </p:sp>
      <p:pic>
        <p:nvPicPr>
          <p:cNvPr id="7" name="图片 6"/>
          <p:cNvPicPr>
            <a:picLocks noChangeAspect="1"/>
          </p:cNvPicPr>
          <p:nvPr>
            <p:custDataLst>
              <p:tags r:id="rId1"/>
            </p:custDataLst>
          </p:nvPr>
        </p:nvPicPr>
        <p:blipFill>
          <a:blip r:embed="rId4"/>
          <a:stretch>
            <a:fillRect/>
          </a:stretch>
        </p:blipFill>
        <p:spPr>
          <a:xfrm>
            <a:off x="3857625" y="2507615"/>
            <a:ext cx="4476115" cy="683895"/>
          </a:xfrm>
          <a:prstGeom prst="rect">
            <a:avLst/>
          </a:prstGeom>
        </p:spPr>
      </p:pic>
      <p:pic>
        <p:nvPicPr>
          <p:cNvPr id="8" name="图片 7"/>
          <p:cNvPicPr>
            <a:picLocks noChangeAspect="1"/>
          </p:cNvPicPr>
          <p:nvPr>
            <p:custDataLst>
              <p:tags r:id="rId2"/>
            </p:custDataLst>
          </p:nvPr>
        </p:nvPicPr>
        <p:blipFill>
          <a:blip r:embed="rId5"/>
          <a:stretch>
            <a:fillRect/>
          </a:stretch>
        </p:blipFill>
        <p:spPr>
          <a:xfrm>
            <a:off x="4538980" y="4241800"/>
            <a:ext cx="2819400" cy="1935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p:txBody>
          <a:bodyPr/>
          <a:lstStyle/>
          <a:p>
            <a:pPr marL="0" indent="0">
              <a:buNone/>
            </a:pPr>
            <a:r>
              <a:rPr lang="zh-CN" altLang="en-US" sz="2000">
                <a:solidFill>
                  <a:srgbClr val="FF0000"/>
                </a:solidFill>
              </a:rPr>
              <a:t>最后我们把这些项加起来就得到了</a:t>
            </a:r>
            <a:r>
              <a:rPr lang="en-US" altLang="zh-CN" sz="2000">
                <a:solidFill>
                  <a:srgbClr val="FF0000"/>
                </a:solidFill>
                <a:sym typeface="+mn-ea"/>
              </a:rPr>
              <a:t>Phong</a:t>
            </a:r>
            <a:r>
              <a:rPr lang="zh-CN" altLang="en-US" sz="2000">
                <a:solidFill>
                  <a:srgbClr val="FF0000"/>
                </a:solidFill>
                <a:sym typeface="+mn-ea"/>
              </a:rPr>
              <a:t>光照模型。</a:t>
            </a:r>
            <a:r>
              <a:rPr lang="zh-CN" altLang="en-US" sz="2000">
                <a:solidFill>
                  <a:schemeClr val="tx1"/>
                </a:solidFill>
                <a:sym typeface="+mn-ea"/>
              </a:rPr>
              <a:t>一般我们的场景有环境照明L</a:t>
            </a:r>
            <a:r>
              <a:rPr lang="en-US" altLang="zh-CN" sz="2000">
                <a:solidFill>
                  <a:schemeClr val="tx1"/>
                </a:solidFill>
                <a:sym typeface="+mn-ea"/>
              </a:rPr>
              <a:t>_</a:t>
            </a:r>
            <a:r>
              <a:rPr lang="zh-CN" altLang="en-US" sz="2000">
                <a:solidFill>
                  <a:schemeClr val="tx1"/>
                </a:solidFill>
                <a:sym typeface="+mn-ea"/>
              </a:rPr>
              <a:t>ambient，和几个光源，我们需要把这些项加起来。其中环境光定义为：</a:t>
            </a:r>
          </a:p>
          <a:p>
            <a:pPr marL="0" indent="0">
              <a:buNone/>
            </a:pPr>
            <a:endParaRPr lang="zh-CN" altLang="en-US" sz="2000">
              <a:solidFill>
                <a:schemeClr val="tx1"/>
              </a:solidFill>
              <a:sym typeface="+mn-ea"/>
            </a:endParaRPr>
          </a:p>
          <a:p>
            <a:pPr marL="0" indent="0">
              <a:buNone/>
            </a:pPr>
            <a:endParaRPr lang="zh-CN" altLang="en-US" sz="2000">
              <a:solidFill>
                <a:schemeClr val="tx1"/>
              </a:solidFill>
              <a:sym typeface="+mn-ea"/>
            </a:endParaRPr>
          </a:p>
          <a:p>
            <a:pPr marL="0" indent="0">
              <a:buNone/>
            </a:pPr>
            <a:r>
              <a:rPr lang="en-US" altLang="zh-CN" sz="2000">
                <a:solidFill>
                  <a:schemeClr val="tx1"/>
                </a:solidFill>
                <a:sym typeface="+mn-ea"/>
              </a:rPr>
              <a:t>Phong</a:t>
            </a:r>
            <a:r>
              <a:rPr lang="zh-CN" altLang="en-US" sz="2000">
                <a:solidFill>
                  <a:schemeClr val="tx1"/>
                </a:solidFill>
                <a:sym typeface="+mn-ea"/>
              </a:rPr>
              <a:t>光照模型就是环境光，漫反射和镜面反射的结合，简单地将它们相加即可：</a:t>
            </a:r>
          </a:p>
          <a:p>
            <a:pPr marL="0" indent="0">
              <a:buNone/>
            </a:pPr>
            <a:endParaRPr lang="zh-CN" altLang="en-US" sz="2000">
              <a:solidFill>
                <a:schemeClr val="tx1"/>
              </a:solidFill>
              <a:sym typeface="+mn-ea"/>
            </a:endParaRPr>
          </a:p>
          <a:p>
            <a:pPr marL="0" indent="0">
              <a:buNone/>
            </a:pPr>
            <a:endParaRPr lang="zh-CN" altLang="en-US" sz="2000">
              <a:solidFill>
                <a:schemeClr val="tx1"/>
              </a:solidFill>
              <a:sym typeface="+mn-ea"/>
            </a:endParaRPr>
          </a:p>
          <a:p>
            <a:pPr marL="0" indent="0">
              <a:buNone/>
            </a:pPr>
            <a:r>
              <a:rPr lang="zh-CN" altLang="en-US" sz="2000">
                <a:solidFill>
                  <a:schemeClr val="tx1"/>
                </a:solidFill>
                <a:sym typeface="+mn-ea"/>
              </a:rPr>
              <a:t>光强度值I是写入帧缓冲区的最终像素强度。</a:t>
            </a:r>
            <a:r>
              <a:rPr lang="zh-CN" altLang="en-US" sz="2000">
                <a:solidFill>
                  <a:srgbClr val="FF0000"/>
                </a:solidFill>
                <a:sym typeface="+mn-ea"/>
              </a:rPr>
              <a:t>注意因为环境光</a:t>
            </a:r>
            <a:r>
              <a:rPr lang="en-US" altLang="zh-CN" sz="2000">
                <a:solidFill>
                  <a:srgbClr val="FF0000"/>
                </a:solidFill>
                <a:sym typeface="+mn-ea"/>
              </a:rPr>
              <a:t>ambient</a:t>
            </a:r>
            <a:r>
              <a:rPr lang="zh-CN" altLang="en-US" sz="2000">
                <a:solidFill>
                  <a:srgbClr val="FF0000"/>
                </a:solidFill>
                <a:sym typeface="+mn-ea"/>
              </a:rPr>
              <a:t>在</a:t>
            </a:r>
            <a:r>
              <a:rPr lang="en-US" altLang="zh-CN" sz="2000">
                <a:solidFill>
                  <a:srgbClr val="FF0000"/>
                </a:solidFill>
                <a:sym typeface="+mn-ea"/>
              </a:rPr>
              <a:t>Scene</a:t>
            </a:r>
            <a:r>
              <a:rPr lang="zh-CN" altLang="en-US" sz="2000">
                <a:solidFill>
                  <a:srgbClr val="FF0000"/>
                </a:solidFill>
                <a:sym typeface="+mn-ea"/>
              </a:rPr>
              <a:t>类中定义，我们在Material::shade</a:t>
            </a:r>
            <a:r>
              <a:rPr lang="en-US" altLang="zh-CN" sz="2000">
                <a:solidFill>
                  <a:srgbClr val="FF0000"/>
                </a:solidFill>
                <a:sym typeface="+mn-ea"/>
              </a:rPr>
              <a:t>()</a:t>
            </a:r>
            <a:r>
              <a:rPr lang="zh-CN" altLang="en-US" sz="2000">
                <a:solidFill>
                  <a:srgbClr val="FF0000"/>
                </a:solidFill>
                <a:sym typeface="+mn-ea"/>
              </a:rPr>
              <a:t>里面不添加环境光的一项。</a:t>
            </a:r>
            <a:endParaRPr lang="zh-CN" altLang="en-US" sz="2000">
              <a:solidFill>
                <a:schemeClr val="tx1"/>
              </a:solidFill>
              <a:sym typeface="+mn-ea"/>
            </a:endParaRPr>
          </a:p>
          <a:p>
            <a:pPr marL="0" indent="0">
              <a:buNone/>
            </a:pPr>
            <a:endParaRPr lang="zh-CN" altLang="en-US" sz="2000">
              <a:solidFill>
                <a:srgbClr val="FF0000"/>
              </a:solidFill>
              <a:sym typeface="+mn-ea"/>
            </a:endParaRPr>
          </a:p>
          <a:p>
            <a:pPr marL="0" indent="0">
              <a:buNone/>
            </a:pPr>
            <a:endParaRPr lang="zh-CN" altLang="en-US" sz="2000"/>
          </a:p>
          <a:p>
            <a:endParaRPr lang="zh-CN" altLang="en-US" sz="2000"/>
          </a:p>
        </p:txBody>
      </p:sp>
      <p:pic>
        <p:nvPicPr>
          <p:cNvPr id="5" name="图片 4"/>
          <p:cNvPicPr>
            <a:picLocks noChangeAspect="1"/>
          </p:cNvPicPr>
          <p:nvPr>
            <p:custDataLst>
              <p:tags r:id="rId1"/>
            </p:custDataLst>
          </p:nvPr>
        </p:nvPicPr>
        <p:blipFill>
          <a:blip r:embed="rId4"/>
          <a:stretch>
            <a:fillRect/>
          </a:stretch>
        </p:blipFill>
        <p:spPr>
          <a:xfrm>
            <a:off x="4772025" y="2471420"/>
            <a:ext cx="2647950" cy="638175"/>
          </a:xfrm>
          <a:prstGeom prst="rect">
            <a:avLst/>
          </a:prstGeom>
        </p:spPr>
      </p:pic>
      <p:pic>
        <p:nvPicPr>
          <p:cNvPr id="9" name="图片 8"/>
          <p:cNvPicPr>
            <a:picLocks noChangeAspect="1"/>
          </p:cNvPicPr>
          <p:nvPr>
            <p:custDataLst>
              <p:tags r:id="rId2"/>
            </p:custDataLst>
          </p:nvPr>
        </p:nvPicPr>
        <p:blipFill>
          <a:blip r:embed="rId5"/>
          <a:stretch>
            <a:fillRect/>
          </a:stretch>
        </p:blipFill>
        <p:spPr>
          <a:xfrm>
            <a:off x="4356100" y="3823335"/>
            <a:ext cx="3619500" cy="609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825625"/>
            <a:ext cx="10515600" cy="4351655"/>
          </a:xfrm>
        </p:spPr>
        <p:txBody>
          <a:bodyPr/>
          <a:lstStyle/>
          <a:p>
            <a:r>
              <a:rPr lang="zh-CN" altLang="en-US" sz="2400">
                <a:solidFill>
                  <a:srgbClr val="FF0000"/>
                </a:solidFill>
              </a:rPr>
              <a:t>最后我们将在</a:t>
            </a:r>
            <a:r>
              <a:rPr lang="zh-CN" altLang="en-US" sz="2400">
                <a:solidFill>
                  <a:srgbClr val="FF0000"/>
                </a:solidFill>
                <a:sym typeface="+mn-ea"/>
              </a:rPr>
              <a:t>Renderer::traceRay(</a:t>
            </a:r>
            <a:r>
              <a:rPr lang="en-US" altLang="zh-CN" sz="2400">
                <a:solidFill>
                  <a:srgbClr val="FF0000"/>
                </a:solidFill>
                <a:sym typeface="+mn-ea"/>
              </a:rPr>
              <a:t>)</a:t>
            </a:r>
            <a:r>
              <a:rPr lang="zh-CN" altLang="en-US" sz="2400">
                <a:solidFill>
                  <a:srgbClr val="FF0000"/>
                </a:solidFill>
                <a:sym typeface="+mn-ea"/>
              </a:rPr>
              <a:t>里面完成</a:t>
            </a:r>
            <a:r>
              <a:rPr lang="en-US" altLang="zh-CN" sz="2400">
                <a:solidFill>
                  <a:srgbClr val="FF0000"/>
                </a:solidFill>
                <a:sym typeface="+mn-ea"/>
              </a:rPr>
              <a:t>Phong</a:t>
            </a:r>
            <a:r>
              <a:rPr lang="zh-CN" altLang="en-US" sz="2400">
                <a:solidFill>
                  <a:srgbClr val="FF0000"/>
                </a:solidFill>
                <a:sym typeface="+mn-ea"/>
              </a:rPr>
              <a:t>光照模型的计算。</a:t>
            </a:r>
            <a:r>
              <a:rPr lang="zh-CN" altLang="en-US" sz="2400">
                <a:solidFill>
                  <a:schemeClr val="tx1"/>
                </a:solidFill>
                <a:sym typeface="+mn-ea"/>
              </a:rPr>
              <a:t>现在对于每个达到的点我们直接返回了材质的漫反射颜色，在</a:t>
            </a:r>
            <a:r>
              <a:rPr lang="en-US" altLang="zh-CN" sz="2400">
                <a:solidFill>
                  <a:schemeClr val="tx1"/>
                </a:solidFill>
                <a:sym typeface="+mn-ea"/>
              </a:rPr>
              <a:t>Phong</a:t>
            </a:r>
            <a:r>
              <a:rPr lang="zh-CN" altLang="en-US" sz="2400">
                <a:solidFill>
                  <a:schemeClr val="tx1"/>
                </a:solidFill>
                <a:sym typeface="+mn-ea"/>
              </a:rPr>
              <a:t>光照模型中我们需要遍历场景中所有的光源（_scene.lights）计算光照（</a:t>
            </a:r>
            <a:r>
              <a:rPr lang="en-US" altLang="zh-CN" sz="2400">
                <a:solidFill>
                  <a:schemeClr val="tx1"/>
                </a:solidFill>
                <a:sym typeface="+mn-ea"/>
              </a:rPr>
              <a:t>shade</a:t>
            </a:r>
            <a:r>
              <a:rPr lang="zh-CN" altLang="en-US" sz="2400">
                <a:solidFill>
                  <a:schemeClr val="tx1"/>
                </a:solidFill>
                <a:sym typeface="+mn-ea"/>
              </a:rPr>
              <a:t>），然后把他们与环境光（_scene.getAmbientLight()）</a:t>
            </a:r>
            <a:r>
              <a:rPr lang="zh-CN" altLang="en-US" sz="2400">
                <a:sym typeface="+mn-ea"/>
              </a:rPr>
              <a:t>累加起来。</a:t>
            </a:r>
          </a:p>
          <a:p>
            <a:r>
              <a:rPr lang="zh-CN" altLang="en-US" sz="2400">
                <a:sym typeface="+mn-ea"/>
              </a:rPr>
              <a:t>现在你应该能看见场景</a:t>
            </a:r>
            <a:r>
              <a:rPr lang="en-US" altLang="zh-CN" sz="2400">
                <a:sym typeface="+mn-ea"/>
              </a:rPr>
              <a:t>1</a:t>
            </a:r>
            <a:r>
              <a:rPr lang="zh-CN" altLang="en-US" sz="2400">
                <a:sym typeface="+mn-ea"/>
              </a:rPr>
              <a:t>中的球体的光照了。</a:t>
            </a:r>
          </a:p>
        </p:txBody>
      </p:sp>
      <p:pic>
        <p:nvPicPr>
          <p:cNvPr id="5" name="图片 4"/>
          <p:cNvPicPr>
            <a:picLocks noChangeAspect="1"/>
          </p:cNvPicPr>
          <p:nvPr>
            <p:custDataLst>
              <p:tags r:id="rId1"/>
            </p:custDataLst>
          </p:nvPr>
        </p:nvPicPr>
        <p:blipFill>
          <a:blip r:embed="rId4"/>
          <a:stretch>
            <a:fillRect/>
          </a:stretch>
        </p:blipFill>
        <p:spPr>
          <a:xfrm>
            <a:off x="1257300" y="3818890"/>
            <a:ext cx="5306060" cy="2537460"/>
          </a:xfrm>
          <a:prstGeom prst="rect">
            <a:avLst/>
          </a:prstGeom>
        </p:spPr>
      </p:pic>
      <p:sp>
        <p:nvSpPr>
          <p:cNvPr id="7" name="矩形 6"/>
          <p:cNvSpPr/>
          <p:nvPr/>
        </p:nvSpPr>
        <p:spPr>
          <a:xfrm>
            <a:off x="3100070" y="5313045"/>
            <a:ext cx="876300" cy="24765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 name="文本框 7"/>
          <p:cNvSpPr txBox="1"/>
          <p:nvPr/>
        </p:nvSpPr>
        <p:spPr>
          <a:xfrm>
            <a:off x="3976370" y="5075555"/>
            <a:ext cx="2740025" cy="368300"/>
          </a:xfrm>
          <a:prstGeom prst="rect">
            <a:avLst/>
          </a:prstGeom>
          <a:noFill/>
        </p:spPr>
        <p:txBody>
          <a:bodyPr wrap="square" rtlCol="0">
            <a:spAutoFit/>
          </a:bodyPr>
          <a:lstStyle/>
          <a:p>
            <a:r>
              <a:rPr lang="zh-CN" altLang="en-US">
                <a:solidFill>
                  <a:srgbClr val="FF0000"/>
                </a:solidFill>
              </a:rPr>
              <a:t>下一节将提到的相交函数</a:t>
            </a:r>
          </a:p>
        </p:txBody>
      </p:sp>
      <p:pic>
        <p:nvPicPr>
          <p:cNvPr id="10" name="图片 9" descr="a01"/>
          <p:cNvPicPr>
            <a:picLocks noChangeAspect="1"/>
          </p:cNvPicPr>
          <p:nvPr>
            <p:custDataLst>
              <p:tags r:id="rId2"/>
            </p:custDataLst>
          </p:nvPr>
        </p:nvPicPr>
        <p:blipFill>
          <a:blip r:embed="rId5"/>
          <a:stretch>
            <a:fillRect/>
          </a:stretch>
        </p:blipFill>
        <p:spPr>
          <a:xfrm>
            <a:off x="8863965" y="3876040"/>
            <a:ext cx="2237105" cy="22371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olidFill>
                  <a:schemeClr val="tx1"/>
                </a:solidFill>
                <a:sym typeface="+mn-ea"/>
              </a:rPr>
              <a:t>光线投射</a:t>
            </a:r>
            <a:endParaRPr lang="zh-CN" altLang="en-US" dirty="0">
              <a:solidFill>
                <a:schemeClr val="tx1"/>
              </a:solidFill>
              <a:cs typeface="等线" panose="02010600030101010101" charset="-122"/>
              <a:sym typeface="+mn-ea"/>
            </a:endParaRPr>
          </a:p>
        </p:txBody>
      </p:sp>
      <p:sp>
        <p:nvSpPr>
          <p:cNvPr id="3" name="内容占位符 2"/>
          <p:cNvSpPr>
            <a:spLocks noGrp="1"/>
          </p:cNvSpPr>
          <p:nvPr>
            <p:ph idx="1"/>
          </p:nvPr>
        </p:nvSpPr>
        <p:spPr>
          <a:xfrm>
            <a:off x="838200" y="1825625"/>
            <a:ext cx="6534150" cy="4351655"/>
          </a:xfrm>
        </p:spPr>
        <p:txBody>
          <a:bodyPr>
            <a:normAutofit/>
          </a:bodyPr>
          <a:lstStyle/>
          <a:p>
            <a:r>
              <a:rPr lang="zh-CN" altLang="en-US" sz="2400">
                <a:solidFill>
                  <a:schemeClr val="tx1"/>
                </a:solidFill>
              </a:rPr>
              <a:t>任务</a:t>
            </a:r>
            <a:r>
              <a:rPr lang="en-US" altLang="zh-CN" sz="2400">
                <a:solidFill>
                  <a:schemeClr val="tx1"/>
                </a:solidFill>
              </a:rPr>
              <a:t>1</a:t>
            </a:r>
            <a:r>
              <a:rPr lang="zh-CN" altLang="en-US" sz="2400">
                <a:solidFill>
                  <a:schemeClr val="tx1"/>
                </a:solidFill>
              </a:rPr>
              <a:t>要求：</a:t>
            </a:r>
          </a:p>
          <a:p>
            <a:r>
              <a:rPr sz="2400"/>
              <a:t>使用面向对象的技术，</a:t>
            </a:r>
            <a:r>
              <a:rPr lang="zh-CN" sz="2400"/>
              <a:t>你</a:t>
            </a:r>
            <a:r>
              <a:rPr sz="2400"/>
              <a:t>将使</a:t>
            </a:r>
            <a:r>
              <a:rPr lang="zh-CN" sz="2400"/>
              <a:t>你</a:t>
            </a:r>
            <a:r>
              <a:rPr sz="2400"/>
              <a:t>的光线</a:t>
            </a:r>
            <a:r>
              <a:rPr lang="zh-CN" sz="2400"/>
              <a:t>追踪</a:t>
            </a:r>
            <a:r>
              <a:rPr sz="2400"/>
              <a:t>器灵活和可扩展。一个通用的</a:t>
            </a:r>
            <a:r>
              <a:rPr lang="en-US" sz="2400"/>
              <a:t>Object3D</a:t>
            </a:r>
            <a:r>
              <a:rPr sz="2400"/>
              <a:t>类将作为所有三维</a:t>
            </a:r>
            <a:r>
              <a:rPr lang="zh-CN" sz="2400"/>
              <a:t>物体</a:t>
            </a:r>
            <a:r>
              <a:rPr sz="2400"/>
              <a:t>的父类。</a:t>
            </a:r>
            <a:r>
              <a:rPr lang="zh-CN" sz="2400"/>
              <a:t>你</a:t>
            </a:r>
            <a:r>
              <a:rPr sz="2400"/>
              <a:t>的工作是实现</a:t>
            </a:r>
            <a:r>
              <a:rPr lang="zh-CN" sz="2400"/>
              <a:t>它们</a:t>
            </a:r>
            <a:r>
              <a:rPr sz="2400"/>
              <a:t>专门化的子类</a:t>
            </a:r>
            <a:r>
              <a:rPr lang="zh-CN" sz="2400"/>
              <a:t>，并实现相交（</a:t>
            </a:r>
            <a:r>
              <a:rPr lang="en-US" altLang="zh-CN" sz="2400"/>
              <a:t>intersect</a:t>
            </a:r>
            <a:r>
              <a:rPr lang="zh-CN" sz="2400"/>
              <a:t>）函数</a:t>
            </a:r>
            <a:r>
              <a:rPr sz="2400"/>
              <a:t>。</a:t>
            </a:r>
            <a:endParaRPr lang="zh-CN" altLang="en-US" sz="2400">
              <a:solidFill>
                <a:srgbClr val="FF0000"/>
              </a:solidFill>
            </a:endParaRPr>
          </a:p>
          <a:p>
            <a:r>
              <a:rPr lang="zh-CN" altLang="en-US" sz="2400">
                <a:solidFill>
                  <a:srgbClr val="FF0000"/>
                </a:solidFill>
              </a:rPr>
              <a:t>你需要在</a:t>
            </a:r>
            <a:r>
              <a:rPr lang="en-US" altLang="zh-CN" sz="2400">
                <a:solidFill>
                  <a:srgbClr val="FF0000"/>
                </a:solidFill>
              </a:rPr>
              <a:t>Object3D.cpp</a:t>
            </a:r>
            <a:r>
              <a:rPr lang="zh-CN" altLang="en-US" sz="2400">
                <a:solidFill>
                  <a:srgbClr val="FF0000"/>
                </a:solidFill>
              </a:rPr>
              <a:t>中填写</a:t>
            </a:r>
            <a:r>
              <a:rPr lang="en-US" altLang="zh-CN" sz="2400">
                <a:solidFill>
                  <a:srgbClr val="FF0000"/>
                </a:solidFill>
              </a:rPr>
              <a:t>Plane</a:t>
            </a:r>
            <a:r>
              <a:rPr lang="zh-CN" altLang="en-US" sz="2400">
                <a:solidFill>
                  <a:srgbClr val="FF0000"/>
                </a:solidFill>
              </a:rPr>
              <a:t>，</a:t>
            </a:r>
            <a:r>
              <a:rPr lang="en-US" altLang="zh-CN" sz="2400">
                <a:solidFill>
                  <a:srgbClr val="FF0000"/>
                </a:solidFill>
              </a:rPr>
              <a:t>Triangle</a:t>
            </a:r>
            <a:r>
              <a:rPr lang="zh-CN" altLang="en-US" sz="2400">
                <a:solidFill>
                  <a:srgbClr val="FF0000"/>
                </a:solidFill>
              </a:rPr>
              <a:t>，</a:t>
            </a:r>
            <a:r>
              <a:rPr lang="en-US" altLang="zh-CN" sz="2400">
                <a:solidFill>
                  <a:srgbClr val="FF0000"/>
                </a:solidFill>
              </a:rPr>
              <a:t>Transform</a:t>
            </a:r>
            <a:r>
              <a:rPr lang="zh-CN" altLang="en-US" sz="2400">
                <a:solidFill>
                  <a:srgbClr val="FF0000"/>
                </a:solidFill>
              </a:rPr>
              <a:t>的</a:t>
            </a:r>
            <a:r>
              <a:rPr lang="en-US" altLang="zh-CN" sz="2400">
                <a:solidFill>
                  <a:srgbClr val="FF0000"/>
                </a:solidFill>
              </a:rPr>
              <a:t>Intersect()</a:t>
            </a:r>
            <a:r>
              <a:rPr lang="zh-CN" altLang="en-US" sz="2400">
                <a:solidFill>
                  <a:srgbClr val="FF0000"/>
                </a:solidFill>
              </a:rPr>
              <a:t>函数实现。</a:t>
            </a:r>
          </a:p>
          <a:p>
            <a:r>
              <a:rPr lang="zh-CN" altLang="en-US" sz="2400">
                <a:solidFill>
                  <a:srgbClr val="FF0000"/>
                </a:solidFill>
              </a:rPr>
              <a:t>请参考教材</a:t>
            </a:r>
            <a:r>
              <a:rPr lang="zh-CN" altLang="en-US" sz="2400">
                <a:solidFill>
                  <a:srgbClr val="FF0000"/>
                </a:solidFill>
                <a:sym typeface="+mn-ea"/>
              </a:rPr>
              <a:t>《计算机图形学》</a:t>
            </a:r>
            <a:r>
              <a:rPr lang="en-US" altLang="zh-CN" sz="2400">
                <a:solidFill>
                  <a:srgbClr val="FF0000"/>
                </a:solidFill>
                <a:sym typeface="+mn-ea"/>
              </a:rPr>
              <a:t>P319</a:t>
            </a:r>
            <a:r>
              <a:rPr lang="zh-CN" altLang="en-US" sz="2400">
                <a:solidFill>
                  <a:srgbClr val="FF0000"/>
                </a:solidFill>
                <a:sym typeface="+mn-ea"/>
              </a:rPr>
              <a:t>第</a:t>
            </a:r>
            <a:r>
              <a:rPr lang="en-US" altLang="zh-CN" sz="2400">
                <a:solidFill>
                  <a:srgbClr val="FF0000"/>
                </a:solidFill>
                <a:sym typeface="+mn-ea"/>
              </a:rPr>
              <a:t>13.6</a:t>
            </a:r>
            <a:r>
              <a:rPr lang="zh-CN" altLang="en-US" sz="2400">
                <a:solidFill>
                  <a:srgbClr val="FF0000"/>
                </a:solidFill>
                <a:sym typeface="+mn-ea"/>
              </a:rPr>
              <a:t>节整体光照明模型与光线跟踪算法</a:t>
            </a:r>
            <a:r>
              <a:rPr lang="zh-CN" altLang="en-US" sz="2400">
                <a:solidFill>
                  <a:schemeClr val="tx1"/>
                </a:solidFill>
                <a:sym typeface="+mn-ea"/>
              </a:rPr>
              <a:t>或者</a:t>
            </a:r>
            <a:r>
              <a:rPr lang="zh-CN" altLang="en-US" sz="2400">
                <a:solidFill>
                  <a:schemeClr val="tx1"/>
                </a:solidFill>
              </a:rPr>
              <a:t>《</a:t>
            </a:r>
            <a:r>
              <a:rPr lang="en-US" altLang="zh-CN" sz="2400">
                <a:solidFill>
                  <a:schemeClr val="tx1"/>
                </a:solidFill>
              </a:rPr>
              <a:t>Fundamentals of Computer Graphics</a:t>
            </a:r>
            <a:r>
              <a:rPr lang="zh-CN" altLang="en-US" sz="2400">
                <a:solidFill>
                  <a:schemeClr val="tx1"/>
                </a:solidFill>
              </a:rPr>
              <a:t>》4.4 Ray-Object Intersection</a:t>
            </a:r>
          </a:p>
        </p:txBody>
      </p:sp>
      <p:pic>
        <p:nvPicPr>
          <p:cNvPr id="100" name="图片 99"/>
          <p:cNvPicPr/>
          <p:nvPr>
            <p:custDataLst>
              <p:tags r:id="rId1"/>
            </p:custDataLst>
          </p:nvPr>
        </p:nvPicPr>
        <p:blipFill>
          <a:blip r:embed="rId3"/>
          <a:stretch>
            <a:fillRect/>
          </a:stretch>
        </p:blipFill>
        <p:spPr>
          <a:xfrm>
            <a:off x="7372350" y="2517775"/>
            <a:ext cx="4465320" cy="296672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dirty="0">
              <a:cs typeface="等线" panose="02010600030101010101" charset="-122"/>
              <a:sym typeface="+mn-ea"/>
            </a:endParaRPr>
          </a:p>
        </p:txBody>
      </p:sp>
      <p:sp>
        <p:nvSpPr>
          <p:cNvPr id="3" name="内容占位符 2"/>
          <p:cNvSpPr>
            <a:spLocks noGrp="1"/>
          </p:cNvSpPr>
          <p:nvPr>
            <p:ph idx="1"/>
          </p:nvPr>
        </p:nvSpPr>
        <p:spPr>
          <a:xfrm>
            <a:off x="762000" y="1530350"/>
            <a:ext cx="6430645" cy="4351655"/>
          </a:xfrm>
        </p:spPr>
        <p:txBody>
          <a:bodyPr>
            <a:noAutofit/>
          </a:bodyPr>
          <a:lstStyle/>
          <a:p>
            <a:pPr>
              <a:lnSpc>
                <a:spcPct val="100000"/>
              </a:lnSpc>
            </a:pPr>
            <a:r>
              <a:rPr lang="zh-CN" sz="1600" b="1" dirty="0">
                <a:solidFill>
                  <a:srgbClr val="FF0000"/>
                </a:solidFill>
                <a:sym typeface="+mn-ea"/>
              </a:rPr>
              <a:t>仔细阅读</a:t>
            </a:r>
            <a:r>
              <a:rPr lang="en-US" altLang="zh-CN" sz="1600" b="1" dirty="0">
                <a:solidFill>
                  <a:srgbClr val="FF0000"/>
                </a:solidFill>
                <a:sym typeface="+mn-ea"/>
              </a:rPr>
              <a:t>Object3D</a:t>
            </a:r>
            <a:r>
              <a:rPr lang="zh-CN" sz="1600" b="1" dirty="0">
                <a:solidFill>
                  <a:srgbClr val="FF0000"/>
                </a:solidFill>
                <a:sym typeface="+mn-ea"/>
              </a:rPr>
              <a:t>类</a:t>
            </a:r>
            <a:r>
              <a:rPr lang="zh-CN" sz="1600" dirty="0">
                <a:sym typeface="+mn-ea"/>
              </a:rPr>
              <a:t>。您不能直接创建一个抽象类的实例，但是您可以通过实例化它的一个子类来使用该抽象类。它有一种方法来计算给定的光线是否与对象相交，并且它还存储了一个指向其材质（</a:t>
            </a:r>
            <a:r>
              <a:rPr lang="en-US" altLang="zh-CN" sz="1600" dirty="0">
                <a:sym typeface="+mn-ea"/>
              </a:rPr>
              <a:t>Material</a:t>
            </a:r>
            <a:r>
              <a:rPr lang="zh-CN" sz="1600" dirty="0">
                <a:sym typeface="+mn-ea"/>
              </a:rPr>
              <a:t>）类型的指针。</a:t>
            </a:r>
          </a:p>
          <a:p>
            <a:pPr>
              <a:lnSpc>
                <a:spcPct val="100000"/>
              </a:lnSpc>
            </a:pPr>
            <a:r>
              <a:rPr lang="zh-CN" altLang="en-US" sz="1600" b="1" dirty="0">
                <a:solidFill>
                  <a:srgbClr val="FF0000"/>
                </a:solidFill>
                <a:sym typeface="+mn-ea"/>
              </a:rPr>
              <a:t>仔细阅读</a:t>
            </a:r>
            <a:r>
              <a:rPr lang="en-US" altLang="zh-CN" sz="1600" b="1" dirty="0">
                <a:solidFill>
                  <a:srgbClr val="FF0000"/>
                </a:solidFill>
                <a:sym typeface="+mn-ea"/>
              </a:rPr>
              <a:t>Sphere</a:t>
            </a:r>
            <a:r>
              <a:rPr lang="zh-CN" altLang="en-US" sz="1600" b="1" dirty="0">
                <a:solidFill>
                  <a:srgbClr val="FF0000"/>
                </a:solidFill>
                <a:sym typeface="+mn-ea"/>
              </a:rPr>
              <a:t>类</a:t>
            </a:r>
            <a:r>
              <a:rPr lang="zh-CN" altLang="en-US" sz="1600" dirty="0">
                <a:sym typeface="+mn-ea"/>
              </a:rPr>
              <a:t>，它</a:t>
            </a:r>
            <a:r>
              <a:rPr lang="zh-CN" sz="1600" dirty="0">
                <a:sym typeface="+mn-ea"/>
              </a:rPr>
              <a:t>继承自</a:t>
            </a:r>
            <a:r>
              <a:rPr lang="en-US" altLang="zh-CN" sz="1600" dirty="0">
                <a:sym typeface="+mn-ea"/>
              </a:rPr>
              <a:t>Object3D</a:t>
            </a:r>
            <a:r>
              <a:rPr lang="zh-CN" sz="1600" dirty="0">
                <a:sym typeface="+mn-ea"/>
              </a:rPr>
              <a:t>并实现</a:t>
            </a:r>
            <a:r>
              <a:rPr lang="en-US" altLang="zh-CN" sz="1600" dirty="0">
                <a:sym typeface="+mn-ea"/>
              </a:rPr>
              <a:t>intersect()</a:t>
            </a:r>
            <a:r>
              <a:rPr lang="zh-CN" sz="1600" dirty="0">
                <a:sym typeface="+mn-ea"/>
              </a:rPr>
              <a:t>方法。代码已经实现了Sphere，而你将实现</a:t>
            </a:r>
            <a:r>
              <a:rPr lang="en-US" altLang="zh-CN" sz="1600" dirty="0">
                <a:sym typeface="+mn-ea"/>
              </a:rPr>
              <a:t>Object3D</a:t>
            </a:r>
            <a:r>
              <a:rPr lang="zh-CN" sz="1600" dirty="0">
                <a:sym typeface="+mn-ea"/>
              </a:rPr>
              <a:t>的其他子类。</a:t>
            </a:r>
          </a:p>
          <a:p>
            <a:pPr>
              <a:lnSpc>
                <a:spcPct val="100000"/>
              </a:lnSpc>
            </a:pPr>
            <a:r>
              <a:rPr lang="zh-CN" altLang="en-US" sz="1600" b="1" dirty="0">
                <a:solidFill>
                  <a:srgbClr val="FF0000"/>
                </a:solidFill>
                <a:sym typeface="+mn-ea"/>
              </a:rPr>
              <a:t>仔细阅读</a:t>
            </a:r>
            <a:r>
              <a:rPr lang="en-US" altLang="zh-CN" sz="1600" b="1" dirty="0">
                <a:solidFill>
                  <a:srgbClr val="FF0000"/>
                </a:solidFill>
                <a:sym typeface="+mn-ea"/>
              </a:rPr>
              <a:t>Group</a:t>
            </a:r>
            <a:r>
              <a:rPr lang="zh-CN" altLang="en-US" sz="1600" b="1" dirty="0">
                <a:solidFill>
                  <a:srgbClr val="FF0000"/>
                </a:solidFill>
                <a:sym typeface="+mn-ea"/>
              </a:rPr>
              <a:t>类。</a:t>
            </a:r>
            <a:r>
              <a:rPr lang="en-US" altLang="zh-CN" sz="1600" dirty="0">
                <a:solidFill>
                  <a:schemeClr val="tx1"/>
                </a:solidFill>
                <a:sym typeface="+mn-ea"/>
              </a:rPr>
              <a:t>Group</a:t>
            </a:r>
            <a:r>
              <a:rPr lang="zh-CN" altLang="en-US" sz="1600" dirty="0">
                <a:solidFill>
                  <a:schemeClr val="tx1"/>
                </a:solidFill>
                <a:sym typeface="+mn-ea"/>
              </a:rPr>
              <a:t>类是所有物体的超类，traceRay(</a:t>
            </a:r>
            <a:r>
              <a:rPr lang="en-US" altLang="zh-CN" sz="1600" dirty="0">
                <a:solidFill>
                  <a:schemeClr val="tx1"/>
                </a:solidFill>
                <a:sym typeface="+mn-ea"/>
              </a:rPr>
              <a:t>)</a:t>
            </a:r>
            <a:r>
              <a:rPr lang="zh-CN" altLang="en-US" sz="1600" dirty="0">
                <a:solidFill>
                  <a:schemeClr val="tx1"/>
                </a:solidFill>
                <a:sym typeface="+mn-ea"/>
              </a:rPr>
              <a:t>方法对</a:t>
            </a:r>
            <a:r>
              <a:rPr lang="en-US" altLang="zh-CN" sz="1600" dirty="0">
                <a:solidFill>
                  <a:schemeClr val="tx1"/>
                </a:solidFill>
                <a:sym typeface="+mn-ea"/>
              </a:rPr>
              <a:t>Group</a:t>
            </a:r>
            <a:r>
              <a:rPr lang="zh-CN" altLang="en-US" sz="1600" dirty="0">
                <a:solidFill>
                  <a:schemeClr val="tx1"/>
                </a:solidFill>
                <a:sym typeface="+mn-ea"/>
              </a:rPr>
              <a:t>进行</a:t>
            </a:r>
            <a:r>
              <a:rPr lang="en-US" altLang="zh-CN" sz="1600" dirty="0">
                <a:solidFill>
                  <a:schemeClr val="tx1"/>
                </a:solidFill>
                <a:sym typeface="+mn-ea"/>
              </a:rPr>
              <a:t>intersect</a:t>
            </a:r>
            <a:r>
              <a:rPr lang="zh-CN" altLang="en-US" sz="1600" dirty="0">
                <a:solidFill>
                  <a:schemeClr val="tx1"/>
                </a:solidFill>
                <a:sym typeface="+mn-ea"/>
              </a:rPr>
              <a:t>就是对所有物体</a:t>
            </a:r>
            <a:r>
              <a:rPr lang="en-US" altLang="zh-CN" sz="1600" dirty="0">
                <a:solidFill>
                  <a:schemeClr val="tx1"/>
                </a:solidFill>
                <a:sym typeface="+mn-ea"/>
              </a:rPr>
              <a:t>intersect</a:t>
            </a:r>
            <a:r>
              <a:rPr lang="zh-CN" altLang="en-US" sz="1600" dirty="0">
                <a:solidFill>
                  <a:schemeClr val="tx1"/>
                </a:solidFill>
                <a:sym typeface="+mn-ea"/>
              </a:rPr>
              <a:t>。</a:t>
            </a:r>
            <a:endParaRPr lang="zh-CN" sz="1600" dirty="0">
              <a:sym typeface="+mn-ea"/>
            </a:endParaRPr>
          </a:p>
          <a:p>
            <a:pPr>
              <a:lnSpc>
                <a:spcPct val="100000"/>
              </a:lnSpc>
            </a:pPr>
            <a:r>
              <a:rPr lang="zh-CN" sz="1600" b="1" dirty="0">
                <a:solidFill>
                  <a:srgbClr val="FF0000"/>
                </a:solidFill>
                <a:sym typeface="+mn-ea"/>
              </a:rPr>
              <a:t>仔细阅读</a:t>
            </a:r>
            <a:r>
              <a:rPr lang="en-US" altLang="zh-CN" sz="1600" b="1" dirty="0">
                <a:solidFill>
                  <a:srgbClr val="FF0000"/>
                </a:solidFill>
                <a:sym typeface="+mn-ea"/>
              </a:rPr>
              <a:t>Sphere</a:t>
            </a:r>
            <a:r>
              <a:rPr lang="zh-CN" altLang="en-US" sz="1600" b="1" dirty="0">
                <a:solidFill>
                  <a:srgbClr val="FF0000"/>
                </a:solidFill>
                <a:sym typeface="+mn-ea"/>
              </a:rPr>
              <a:t>类的</a:t>
            </a:r>
            <a:r>
              <a:rPr sz="1600" b="1" dirty="0" err="1">
                <a:solidFill>
                  <a:srgbClr val="FF0000"/>
                </a:solidFill>
                <a:sym typeface="+mn-ea"/>
              </a:rPr>
              <a:t>相交</a:t>
            </a:r>
            <a:r>
              <a:rPr lang="zh-CN" sz="1600" b="1" dirty="0">
                <a:solidFill>
                  <a:srgbClr val="FF0000"/>
                </a:solidFill>
                <a:sym typeface="+mn-ea"/>
              </a:rPr>
              <a:t>（</a:t>
            </a:r>
            <a:r>
              <a:rPr lang="en-US" altLang="zh-CN" sz="1600" b="1" dirty="0">
                <a:solidFill>
                  <a:srgbClr val="FF0000"/>
                </a:solidFill>
                <a:sym typeface="+mn-ea"/>
              </a:rPr>
              <a:t>intersect</a:t>
            </a:r>
            <a:r>
              <a:rPr lang="zh-CN" sz="1600" b="1" dirty="0">
                <a:solidFill>
                  <a:srgbClr val="FF0000"/>
                </a:solidFill>
                <a:sym typeface="+mn-ea"/>
              </a:rPr>
              <a:t>）方法</a:t>
            </a:r>
            <a:r>
              <a:rPr lang="zh-CN" sz="1600" dirty="0">
                <a:sym typeface="+mn-ea"/>
              </a:rPr>
              <a:t>里面</a:t>
            </a:r>
            <a:r>
              <a:rPr sz="1600" dirty="0">
                <a:sym typeface="+mn-ea"/>
              </a:rPr>
              <a:t>，</a:t>
            </a:r>
            <a:r>
              <a:rPr sz="1600" dirty="0" err="1">
                <a:sym typeface="+mn-ea"/>
              </a:rPr>
              <a:t>我们寻找沿光线的最近交点，用t参数化</a:t>
            </a:r>
            <a:r>
              <a:rPr lang="zh-CN" sz="1600" dirty="0">
                <a:sym typeface="+mn-ea"/>
              </a:rPr>
              <a:t>，给定物体，光线，上一个交点，判断是否与物体相交</a:t>
            </a:r>
            <a:r>
              <a:rPr sz="1600" dirty="0">
                <a:sym typeface="+mn-ea"/>
              </a:rPr>
              <a:t>。</a:t>
            </a:r>
            <a:r>
              <a:rPr sz="1600" dirty="0" err="1">
                <a:sym typeface="+mn-ea"/>
              </a:rPr>
              <a:t>tmin用来限制相交的范围</a:t>
            </a:r>
            <a:r>
              <a:rPr sz="1600" dirty="0">
                <a:sym typeface="+mn-ea"/>
              </a:rPr>
              <a:t>。</a:t>
            </a:r>
          </a:p>
          <a:p>
            <a:pPr>
              <a:lnSpc>
                <a:spcPct val="100000"/>
              </a:lnSpc>
            </a:pPr>
            <a:r>
              <a:rPr sz="1600" dirty="0" err="1">
                <a:sym typeface="+mn-ea"/>
              </a:rPr>
              <a:t>如果发现一个交集使得t</a:t>
            </a:r>
            <a:r>
              <a:rPr sz="1600" dirty="0">
                <a:sym typeface="+mn-ea"/>
              </a:rPr>
              <a:t> &gt; </a:t>
            </a:r>
            <a:r>
              <a:rPr sz="1600" dirty="0" err="1">
                <a:sym typeface="+mn-ea"/>
              </a:rPr>
              <a:t>tmin和t小于当前存储在</a:t>
            </a:r>
            <a:r>
              <a:rPr lang="zh-CN" sz="1600" dirty="0">
                <a:sym typeface="+mn-ea"/>
              </a:rPr>
              <a:t>命中点（</a:t>
            </a:r>
            <a:r>
              <a:rPr sz="1600" dirty="0">
                <a:sym typeface="+mn-ea"/>
              </a:rPr>
              <a:t>Hit</a:t>
            </a:r>
            <a:r>
              <a:rPr lang="zh-CN" sz="1600" dirty="0">
                <a:sym typeface="+mn-ea"/>
              </a:rPr>
              <a:t>）</a:t>
            </a:r>
            <a:r>
              <a:rPr sz="1600" dirty="0">
                <a:sym typeface="+mn-ea"/>
              </a:rPr>
              <a:t>数据结构中的交集的值，则根据需要更新Hit。请注意，如果新的交点比前一个交点更近，则需要修改Hit对象，并且相交必须返回true。</a:t>
            </a:r>
          </a:p>
          <a:p>
            <a:pPr>
              <a:lnSpc>
                <a:spcPct val="100000"/>
              </a:lnSpc>
            </a:pPr>
            <a:r>
              <a:rPr sz="1600" dirty="0" err="1">
                <a:sym typeface="+mn-ea"/>
              </a:rPr>
              <a:t>注意，Hit是通过引用传递的，这意味着在方法中修改它将修改传入的原始对象</a:t>
            </a:r>
            <a:r>
              <a:rPr sz="1600" dirty="0">
                <a:sym typeface="+mn-ea"/>
              </a:rPr>
              <a:t>。</a:t>
            </a:r>
            <a:r>
              <a:rPr lang="zh-CN" sz="1600" dirty="0">
                <a:sym typeface="+mn-ea"/>
              </a:rPr>
              <a:t>我们通过对所有的物体</a:t>
            </a:r>
            <a:r>
              <a:rPr lang="en-US" altLang="zh-CN" sz="1600" dirty="0">
                <a:sym typeface="+mn-ea"/>
              </a:rPr>
              <a:t>intersect</a:t>
            </a:r>
            <a:r>
              <a:rPr lang="zh-CN" altLang="en-US" sz="1600" dirty="0">
                <a:sym typeface="+mn-ea"/>
              </a:rPr>
              <a:t>之后就知道光线与哪个物体有最近的相交了。</a:t>
            </a:r>
          </a:p>
        </p:txBody>
      </p:sp>
      <p:pic>
        <p:nvPicPr>
          <p:cNvPr id="4" name="图片 3"/>
          <p:cNvPicPr>
            <a:picLocks noChangeAspect="1"/>
          </p:cNvPicPr>
          <p:nvPr>
            <p:custDataLst>
              <p:tags r:id="rId1"/>
            </p:custDataLst>
          </p:nvPr>
        </p:nvPicPr>
        <p:blipFill>
          <a:blip r:embed="rId3"/>
          <a:stretch>
            <a:fillRect/>
          </a:stretch>
        </p:blipFill>
        <p:spPr>
          <a:xfrm>
            <a:off x="7354570" y="0"/>
            <a:ext cx="4604385" cy="67443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p:txBody>
          <a:bodyPr/>
          <a:lstStyle/>
          <a:p>
            <a:r>
              <a:rPr lang="zh-CN" altLang="en-US">
                <a:solidFill>
                  <a:srgbClr val="FF0000"/>
                </a:solidFill>
              </a:rPr>
              <a:t>第一步，实现平面（</a:t>
            </a:r>
            <a:r>
              <a:rPr lang="en-US" altLang="zh-CN">
                <a:solidFill>
                  <a:srgbClr val="FF0000"/>
                </a:solidFill>
              </a:rPr>
              <a:t>Plane</a:t>
            </a:r>
            <a:r>
              <a:rPr lang="zh-CN" altLang="en-US">
                <a:solidFill>
                  <a:srgbClr val="FF0000"/>
                </a:solidFill>
              </a:rPr>
              <a:t>）类。</a:t>
            </a:r>
            <a:r>
              <a:rPr lang="zh-CN" altLang="en-US"/>
              <a:t>它是从</a:t>
            </a:r>
            <a:r>
              <a:rPr lang="en-US" altLang="zh-CN"/>
              <a:t>Object3D</a:t>
            </a:r>
            <a:r>
              <a:rPr lang="zh-CN" altLang="en-US"/>
              <a:t>派生出来的无穷平面。</a:t>
            </a:r>
            <a:r>
              <a:rPr lang="zh-CN" altLang="en-US">
                <a:sym typeface="+mn-ea"/>
              </a:rPr>
              <a:t>平面方程定义为</a:t>
            </a:r>
            <a:r>
              <a:rPr lang="en-US" altLang="zh-CN">
                <a:sym typeface="+mn-ea"/>
              </a:rPr>
              <a:t>P</a:t>
            </a:r>
            <a:r>
              <a:rPr lang="zh-CN" altLang="en-US">
                <a:sym typeface="+mn-ea"/>
              </a:rPr>
              <a:t>·</a:t>
            </a:r>
            <a:r>
              <a:rPr lang="en-US" altLang="zh-CN">
                <a:sym typeface="+mn-ea"/>
              </a:rPr>
              <a:t>n</a:t>
            </a:r>
            <a:r>
              <a:rPr lang="zh-CN" altLang="en-US">
                <a:sym typeface="+mn-ea"/>
              </a:rPr>
              <a:t>=</a:t>
            </a:r>
            <a:r>
              <a:rPr lang="en-US" altLang="zh-CN">
                <a:sym typeface="+mn-ea"/>
              </a:rPr>
              <a:t>d</a:t>
            </a:r>
            <a:r>
              <a:rPr lang="zh-CN" altLang="en-US">
                <a:sym typeface="+mn-ea"/>
              </a:rPr>
              <a:t>，</a:t>
            </a:r>
            <a:r>
              <a:rPr lang="en-US" altLang="zh-CN"/>
              <a:t>d</a:t>
            </a:r>
            <a:r>
              <a:rPr lang="zh-CN" altLang="en-US"/>
              <a:t>为相对原点的偏移量，</a:t>
            </a:r>
            <a:r>
              <a:rPr lang="en-US" altLang="zh-CN"/>
              <a:t>n</a:t>
            </a:r>
            <a:r>
              <a:rPr lang="zh-CN" altLang="en-US"/>
              <a:t>是法线，</a:t>
            </a:r>
            <a:r>
              <a:rPr lang="en-US" altLang="zh-CN"/>
              <a:t>P</a:t>
            </a:r>
            <a:r>
              <a:rPr lang="zh-CN" altLang="en-US"/>
              <a:t>是平面上的点。为了实现相交（</a:t>
            </a:r>
            <a:r>
              <a:rPr lang="en-US" altLang="zh-CN"/>
              <a:t>intersect</a:t>
            </a:r>
            <a:r>
              <a:rPr lang="zh-CN" altLang="en-US"/>
              <a:t>）函数，请确保除了相交距离t和颜色外，</a:t>
            </a:r>
            <a:r>
              <a:rPr lang="zh-CN" altLang="en-US">
                <a:sym typeface="+mn-ea"/>
              </a:rPr>
              <a:t>相交函数</a:t>
            </a:r>
            <a:r>
              <a:rPr lang="zh-CN" altLang="en-US"/>
              <a:t>还会更新Hit存储的法向量值。</a:t>
            </a:r>
          </a:p>
          <a:p>
            <a:r>
              <a:rPr lang="zh-CN" altLang="en-US"/>
              <a:t>实现平面类之后就能够渲染场景</a:t>
            </a:r>
            <a:r>
              <a:rPr lang="en-US" altLang="zh-CN"/>
              <a:t>1</a:t>
            </a:r>
            <a:r>
              <a:rPr lang="zh-CN" altLang="en-US"/>
              <a:t>中球体和平面的模型。</a:t>
            </a:r>
          </a:p>
        </p:txBody>
      </p:sp>
      <p:pic>
        <p:nvPicPr>
          <p:cNvPr id="4" name="图片 3" descr="a01"/>
          <p:cNvPicPr>
            <a:picLocks noChangeAspect="1"/>
          </p:cNvPicPr>
          <p:nvPr>
            <p:custDataLst>
              <p:tags r:id="rId1"/>
            </p:custDataLst>
          </p:nvPr>
        </p:nvPicPr>
        <p:blipFill>
          <a:blip r:embed="rId4"/>
          <a:stretch>
            <a:fillRect/>
          </a:stretch>
        </p:blipFill>
        <p:spPr>
          <a:xfrm>
            <a:off x="8863965" y="4036695"/>
            <a:ext cx="2237105" cy="2237105"/>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1080770" y="4147820"/>
            <a:ext cx="6471285" cy="2028825"/>
          </a:xfrm>
          <a:prstGeom prst="rect">
            <a:avLst/>
          </a:prstGeom>
        </p:spPr>
      </p:pic>
      <p:cxnSp>
        <p:nvCxnSpPr>
          <p:cNvPr id="8" name="直接连接符 7"/>
          <p:cNvCxnSpPr/>
          <p:nvPr/>
        </p:nvCxnSpPr>
        <p:spPr>
          <a:xfrm>
            <a:off x="3319145" y="4505325"/>
            <a:ext cx="0" cy="6311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2661920" y="4486275"/>
            <a:ext cx="657225" cy="6000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2671445" y="5067300"/>
            <a:ext cx="619125" cy="95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385820" y="4686300"/>
            <a:ext cx="4064000" cy="368300"/>
          </a:xfrm>
          <a:prstGeom prst="rect">
            <a:avLst/>
          </a:prstGeom>
          <a:noFill/>
        </p:spPr>
        <p:txBody>
          <a:bodyPr wrap="square" rtlCol="0">
            <a:spAutoFit/>
          </a:bodyPr>
          <a:lstStyle/>
          <a:p>
            <a:r>
              <a:rPr lang="en-US" altLang="zh-CN">
                <a:solidFill>
                  <a:srgbClr val="FF0000"/>
                </a:solidFill>
              </a:rPr>
              <a:t>d·N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p:txBody>
          <a:bodyPr>
            <a:normAutofit/>
          </a:bodyPr>
          <a:lstStyle/>
          <a:p>
            <a:r>
              <a:rPr lang="zh-CN" altLang="en-US" sz="2400">
                <a:solidFill>
                  <a:srgbClr val="FF0000"/>
                </a:solidFill>
              </a:rPr>
              <a:t>第二步，实现三角形（</a:t>
            </a:r>
            <a:r>
              <a:rPr lang="en-US" altLang="zh-CN" sz="2400">
                <a:solidFill>
                  <a:srgbClr val="FF0000"/>
                </a:solidFill>
              </a:rPr>
              <a:t>Triangle</a:t>
            </a:r>
            <a:r>
              <a:rPr lang="zh-CN" altLang="en-US" sz="2400">
                <a:solidFill>
                  <a:srgbClr val="FF0000"/>
                </a:solidFill>
              </a:rPr>
              <a:t>）类。</a:t>
            </a:r>
            <a:r>
              <a:rPr lang="zh-CN" altLang="en-US" sz="2400"/>
              <a:t>它也是从</a:t>
            </a:r>
            <a:r>
              <a:rPr lang="en-US" altLang="zh-CN" sz="2400"/>
              <a:t>Object3D</a:t>
            </a:r>
            <a:r>
              <a:rPr lang="zh-CN" altLang="en-US" sz="2400"/>
              <a:t>派生出来的。</a:t>
            </a:r>
            <a:r>
              <a:rPr sz="2400"/>
              <a:t>构造函数</a:t>
            </a:r>
            <a:r>
              <a:rPr lang="zh-CN" sz="2400"/>
              <a:t>输入</a:t>
            </a:r>
            <a:r>
              <a:rPr sz="2400"/>
              <a:t>3个顶点，每个顶点</a:t>
            </a:r>
            <a:r>
              <a:rPr lang="zh-CN" sz="2400"/>
              <a:t>包括</a:t>
            </a:r>
            <a:r>
              <a:rPr sz="2400"/>
              <a:t>法线和</a:t>
            </a:r>
            <a:r>
              <a:rPr lang="zh-CN" sz="2400"/>
              <a:t>材质</a:t>
            </a:r>
            <a:r>
              <a:rPr sz="2400"/>
              <a:t>。</a:t>
            </a:r>
          </a:p>
          <a:p>
            <a:pPr marL="0" indent="0">
              <a:buNone/>
            </a:pPr>
            <a:r>
              <a:rPr lang="zh-CN" sz="2400"/>
              <a:t>（</a:t>
            </a:r>
            <a:r>
              <a:rPr lang="en-US" altLang="zh-CN" sz="2400"/>
              <a:t>1</a:t>
            </a:r>
            <a:r>
              <a:rPr lang="zh-CN" sz="2400"/>
              <a:t>）</a:t>
            </a:r>
            <a:r>
              <a:rPr sz="2400"/>
              <a:t>判断射线是否与</a:t>
            </a:r>
            <a:r>
              <a:rPr sz="2400" b="1"/>
              <a:t>三角形所在</a:t>
            </a:r>
            <a:r>
              <a:rPr sz="2400"/>
              <a:t>平面相交。当光线r (t )与平面相交， 就有点p 满足(p – p ’)·N =0 ， 同时p = o + t * d 。只有当(p – p ’)·N = 0 才能满足p 点在平面内。(p – p ’)这个向量垂直于法线方向。</a:t>
            </a:r>
          </a:p>
          <a:p>
            <a:pPr marL="0" indent="0">
              <a:buNone/>
            </a:pPr>
            <a:r>
              <a:rPr lang="zh-CN" sz="2400"/>
              <a:t>（</a:t>
            </a:r>
            <a:r>
              <a:rPr lang="en-US" altLang="zh-CN" sz="2400"/>
              <a:t>2</a:t>
            </a:r>
            <a:r>
              <a:rPr lang="zh-CN" sz="2400"/>
              <a:t>）</a:t>
            </a:r>
            <a:r>
              <a:rPr sz="2400"/>
              <a:t>确定射线与平面相交后，再求得其交点p ,并判断该点是否在三角形内。</a:t>
            </a:r>
          </a:p>
          <a:p>
            <a:r>
              <a:rPr lang="zh-CN" altLang="en-US" sz="2400"/>
              <a:t>实现三角形类之后就能够渲染场景</a:t>
            </a:r>
            <a:r>
              <a:rPr lang="en-US" altLang="zh-CN" sz="2400"/>
              <a:t>2</a:t>
            </a:r>
            <a:r>
              <a:rPr lang="zh-CN" altLang="en-US" sz="2400"/>
              <a:t>中立方体的模型。</a:t>
            </a:r>
          </a:p>
        </p:txBody>
      </p:sp>
      <p:pic>
        <p:nvPicPr>
          <p:cNvPr id="5" name="图片 4" descr="a02"/>
          <p:cNvPicPr>
            <a:picLocks noChangeAspect="1"/>
          </p:cNvPicPr>
          <p:nvPr/>
        </p:nvPicPr>
        <p:blipFill>
          <a:blip r:embed="rId3"/>
          <a:stretch>
            <a:fillRect/>
          </a:stretch>
        </p:blipFill>
        <p:spPr>
          <a:xfrm>
            <a:off x="8893810" y="4476750"/>
            <a:ext cx="1776730" cy="1776730"/>
          </a:xfrm>
          <a:prstGeom prst="rect">
            <a:avLst/>
          </a:prstGeom>
        </p:spPr>
      </p:pic>
      <p:pic>
        <p:nvPicPr>
          <p:cNvPr id="4" name="图片 3"/>
          <p:cNvPicPr>
            <a:picLocks noChangeAspect="1"/>
          </p:cNvPicPr>
          <p:nvPr>
            <p:custDataLst>
              <p:tags r:id="rId1"/>
            </p:custDataLst>
          </p:nvPr>
        </p:nvPicPr>
        <p:blipFill>
          <a:blip r:embed="rId4"/>
          <a:stretch>
            <a:fillRect/>
          </a:stretch>
        </p:blipFill>
        <p:spPr>
          <a:xfrm>
            <a:off x="1356995" y="4602480"/>
            <a:ext cx="5661025" cy="17748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nSpc>
                <a:spcPct val="100000"/>
              </a:lnSpc>
            </a:pPr>
            <a:r>
              <a:rPr lang="zh-CN" altLang="en-US" sz="2000" dirty="0">
                <a:solidFill>
                  <a:srgbClr val="FF0000"/>
                </a:solidFill>
              </a:rPr>
              <a:t>射线与三角形相交的Möller-Trumbore 算法（https://www.oakchina.cn/2022/02/16/moller-trumbore/）</a:t>
            </a:r>
          </a:p>
          <a:p>
            <a:pPr>
              <a:lnSpc>
                <a:spcPct val="100000"/>
              </a:lnSpc>
            </a:pPr>
            <a:r>
              <a:rPr lang="zh-CN" altLang="en-US" sz="2000" dirty="0"/>
              <a:t>对于三角形ABC 内的任意一点P， 向量AP 、AB 、AC 线性相关。那么</a:t>
            </a:r>
            <a:r>
              <a:rPr lang="en-US" altLang="zh-CN" sz="2000" dirty="0"/>
              <a:t>P</a:t>
            </a:r>
            <a:r>
              <a:rPr lang="zh-CN" altLang="en-US" sz="2000" dirty="0"/>
              <a:t>的坐标可以表示为如下的公式。这代表着，</a:t>
            </a:r>
            <a:r>
              <a:rPr lang="en-US" altLang="zh-CN" sz="2000" dirty="0"/>
              <a:t>P</a:t>
            </a:r>
            <a:r>
              <a:rPr lang="zh-CN" altLang="en-US" sz="2000" dirty="0"/>
              <a:t>一定可以表示为三个顶点的线性组合，而且系数的和为</a:t>
            </a:r>
            <a:r>
              <a:rPr lang="en-US" altLang="zh-CN" sz="2000" dirty="0"/>
              <a:t>1</a:t>
            </a:r>
            <a:r>
              <a:rPr lang="zh-CN" altLang="en-US" sz="2000" dirty="0"/>
              <a:t>。</a:t>
            </a:r>
          </a:p>
          <a:p>
            <a:pPr>
              <a:lnSpc>
                <a:spcPct val="100000"/>
              </a:lnSpc>
            </a:pPr>
            <a:endParaRPr lang="zh-CN" altLang="en-US" sz="2000" dirty="0"/>
          </a:p>
          <a:p>
            <a:pPr marL="0" indent="0">
              <a:lnSpc>
                <a:spcPct val="100000"/>
              </a:lnSpc>
              <a:buNone/>
            </a:pPr>
            <a:endParaRPr lang="zh-CN" sz="2000" dirty="0">
              <a:sym typeface="+mn-ea"/>
            </a:endParaRPr>
          </a:p>
          <a:p>
            <a:pPr>
              <a:lnSpc>
                <a:spcPct val="100000"/>
              </a:lnSpc>
            </a:pPr>
            <a:r>
              <a:rPr lang="zh-CN" sz="2000" dirty="0">
                <a:sym typeface="+mn-ea"/>
              </a:rPr>
              <a:t>在线性代数中</a:t>
            </a:r>
            <a:r>
              <a:rPr sz="2000" dirty="0">
                <a:sym typeface="+mn-ea"/>
              </a:rPr>
              <a:t>要求解一个3x3的线性</a:t>
            </a:r>
            <a:r>
              <a:rPr lang="zh-CN" sz="2000" dirty="0">
                <a:sym typeface="+mn-ea"/>
              </a:rPr>
              <a:t>方程</a:t>
            </a:r>
            <a:r>
              <a:rPr sz="2000" dirty="0">
                <a:sym typeface="+mn-ea"/>
              </a:rPr>
              <a:t>，</a:t>
            </a:r>
            <a:r>
              <a:rPr lang="zh-CN" sz="2000" dirty="0">
                <a:sym typeface="+mn-ea"/>
              </a:rPr>
              <a:t>你</a:t>
            </a:r>
            <a:r>
              <a:rPr sz="2000" dirty="0" err="1">
                <a:sym typeface="+mn-ea"/>
              </a:rPr>
              <a:t>可以将其表示为Ax</a:t>
            </a:r>
            <a:r>
              <a:rPr sz="2000" dirty="0">
                <a:sym typeface="+mn-ea"/>
              </a:rPr>
              <a:t> = b，并使用Matrix3f::inverse()</a:t>
            </a:r>
            <a:r>
              <a:rPr sz="2000" dirty="0" err="1">
                <a:sym typeface="+mn-ea"/>
              </a:rPr>
              <a:t>来求解该</a:t>
            </a:r>
            <a:r>
              <a:rPr lang="zh-CN" sz="2000" dirty="0">
                <a:sym typeface="+mn-ea"/>
              </a:rPr>
              <a:t>方程</a:t>
            </a:r>
            <a:r>
              <a:rPr sz="2000" dirty="0">
                <a:sym typeface="+mn-ea"/>
              </a:rPr>
              <a:t>。</a:t>
            </a:r>
          </a:p>
          <a:p>
            <a:pPr>
              <a:lnSpc>
                <a:spcPct val="100000"/>
              </a:lnSpc>
            </a:pPr>
            <a:r>
              <a:rPr lang="zh-CN" sz="2000" dirty="0">
                <a:sym typeface="+mn-ea"/>
              </a:rPr>
              <a:t>然后我们就得到了</a:t>
            </a:r>
            <a:r>
              <a:rPr lang="en-US" altLang="zh-CN" sz="2000" dirty="0">
                <a:sym typeface="+mn-ea"/>
              </a:rPr>
              <a:t>P</a:t>
            </a:r>
            <a:r>
              <a:rPr lang="zh-CN" altLang="en-US" sz="2000" dirty="0">
                <a:sym typeface="+mn-ea"/>
              </a:rPr>
              <a:t>的</a:t>
            </a:r>
            <a:r>
              <a:rPr sz="2000" dirty="0" err="1">
                <a:sym typeface="+mn-ea"/>
              </a:rPr>
              <a:t>重心坐标</a:t>
            </a:r>
            <a:r>
              <a:rPr lang="zh-CN" sz="2000" dirty="0">
                <a:sym typeface="+mn-ea"/>
              </a:rPr>
              <a:t>（</a:t>
            </a:r>
            <a:r>
              <a:rPr lang="zh-CN" sz="2000" dirty="0">
                <a:sym typeface="+mn-ea"/>
                <a:hlinkClick r:id="rId5" action="ppaction://hlinkfile"/>
              </a:rPr>
              <a:t>https://zhuanlan.zhihu.com/p/361943207</a:t>
            </a:r>
            <a:r>
              <a:rPr lang="zh-CN" sz="2000" dirty="0">
                <a:sym typeface="+mn-ea"/>
              </a:rPr>
              <a:t>）表示</a:t>
            </a:r>
            <a:r>
              <a:rPr sz="2000" dirty="0">
                <a:sym typeface="+mn-ea"/>
              </a:rPr>
              <a:t>。</a:t>
            </a:r>
            <a:r>
              <a:rPr lang="zh-CN" sz="2000" dirty="0">
                <a:sym typeface="+mn-ea"/>
              </a:rPr>
              <a:t>如果</a:t>
            </a:r>
            <a:r>
              <a:rPr lang="en-US" altLang="zh-CN" sz="2000" dirty="0">
                <a:sym typeface="+mn-ea"/>
              </a:rPr>
              <a:t>P</a:t>
            </a:r>
            <a:r>
              <a:rPr lang="zh-CN" altLang="en-US" sz="2000" dirty="0">
                <a:sym typeface="+mn-ea"/>
              </a:rPr>
              <a:t>在三角形内那么</a:t>
            </a:r>
            <a:r>
              <a:rPr lang="en-US" altLang="zh-CN" sz="2000" dirty="0">
                <a:sym typeface="+mn-ea"/>
              </a:rPr>
              <a:t>P</a:t>
            </a:r>
            <a:r>
              <a:rPr lang="zh-CN" altLang="en-US" sz="2000" dirty="0">
                <a:sym typeface="+mn-ea"/>
              </a:rPr>
              <a:t>必须满足三个系数都在</a:t>
            </a:r>
            <a:r>
              <a:rPr lang="en-US" altLang="zh-CN" sz="2000" dirty="0">
                <a:sym typeface="+mn-ea"/>
              </a:rPr>
              <a:t>0</a:t>
            </a:r>
            <a:r>
              <a:rPr lang="zh-CN" altLang="en-US" sz="2000" dirty="0">
                <a:sym typeface="+mn-ea"/>
              </a:rPr>
              <a:t>到</a:t>
            </a:r>
            <a:r>
              <a:rPr lang="en-US" altLang="zh-CN" sz="2000" dirty="0">
                <a:sym typeface="+mn-ea"/>
              </a:rPr>
              <a:t>1</a:t>
            </a:r>
            <a:r>
              <a:rPr lang="zh-CN" altLang="en-US" sz="2000" dirty="0">
                <a:sym typeface="+mn-ea"/>
              </a:rPr>
              <a:t>之间。</a:t>
            </a:r>
            <a:endParaRPr sz="2000" dirty="0">
              <a:sym typeface="+mn-ea"/>
            </a:endParaRPr>
          </a:p>
          <a:p>
            <a:pPr>
              <a:lnSpc>
                <a:spcPct val="100000"/>
              </a:lnSpc>
            </a:pPr>
            <a:endParaRPr sz="2000" dirty="0"/>
          </a:p>
          <a:p>
            <a:endParaRPr lang="zh-CN" altLang="en-US" sz="2000" dirty="0"/>
          </a:p>
        </p:txBody>
      </p:sp>
      <p:pic>
        <p:nvPicPr>
          <p:cNvPr id="6" name="图片 5"/>
          <p:cNvPicPr>
            <a:picLocks noChangeAspect="1"/>
          </p:cNvPicPr>
          <p:nvPr>
            <p:custDataLst>
              <p:tags r:id="rId1"/>
            </p:custDataLst>
          </p:nvPr>
        </p:nvPicPr>
        <p:blipFill>
          <a:blip r:embed="rId6"/>
          <a:stretch>
            <a:fillRect/>
          </a:stretch>
        </p:blipFill>
        <p:spPr>
          <a:xfrm>
            <a:off x="2149475" y="3264535"/>
            <a:ext cx="2267585" cy="783590"/>
          </a:xfrm>
          <a:prstGeom prst="rect">
            <a:avLst/>
          </a:prstGeom>
        </p:spPr>
      </p:pic>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pic>
        <p:nvPicPr>
          <p:cNvPr id="4" name="图片 3"/>
          <p:cNvPicPr>
            <a:picLocks noChangeAspect="1"/>
          </p:cNvPicPr>
          <p:nvPr>
            <p:custDataLst>
              <p:tags r:id="rId2"/>
            </p:custDataLst>
          </p:nvPr>
        </p:nvPicPr>
        <p:blipFill>
          <a:blip r:embed="rId7"/>
          <a:stretch>
            <a:fillRect/>
          </a:stretch>
        </p:blipFill>
        <p:spPr>
          <a:xfrm>
            <a:off x="8264525" y="0"/>
            <a:ext cx="2698750" cy="1751965"/>
          </a:xfrm>
          <a:prstGeom prst="rect">
            <a:avLst/>
          </a:prstGeom>
        </p:spPr>
      </p:pic>
      <p:pic>
        <p:nvPicPr>
          <p:cNvPr id="5" name="图片 4"/>
          <p:cNvPicPr>
            <a:picLocks noChangeAspect="1"/>
          </p:cNvPicPr>
          <p:nvPr>
            <p:custDataLst>
              <p:tags r:id="rId3"/>
            </p:custDataLst>
          </p:nvPr>
        </p:nvPicPr>
        <p:blipFill>
          <a:blip r:embed="rId8"/>
          <a:stretch>
            <a:fillRect/>
          </a:stretch>
        </p:blipFill>
        <p:spPr>
          <a:xfrm>
            <a:off x="6567170" y="3305810"/>
            <a:ext cx="3382010" cy="7423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p:txBody>
          <a:bodyPr/>
          <a:lstStyle/>
          <a:p>
            <a:r>
              <a:rPr lang="zh-CN" altLang="en-US" sz="2400">
                <a:solidFill>
                  <a:srgbClr val="FF0000"/>
                </a:solidFill>
              </a:rPr>
              <a:t>第三步，实现变换（</a:t>
            </a:r>
            <a:r>
              <a:rPr lang="en-US" altLang="zh-CN" sz="2400">
                <a:solidFill>
                  <a:srgbClr val="FF0000"/>
                </a:solidFill>
              </a:rPr>
              <a:t>Transform</a:t>
            </a:r>
            <a:r>
              <a:rPr lang="zh-CN" altLang="en-US" sz="2400">
                <a:solidFill>
                  <a:srgbClr val="FF0000"/>
                </a:solidFill>
              </a:rPr>
              <a:t>）类。</a:t>
            </a:r>
            <a:r>
              <a:rPr lang="zh-CN" altLang="en-US" sz="2400">
                <a:solidFill>
                  <a:srgbClr val="FF0000"/>
                </a:solidFill>
                <a:sym typeface="+mn-ea"/>
              </a:rPr>
              <a:t>请参考教材《计算机图形学》</a:t>
            </a:r>
            <a:r>
              <a:rPr lang="en-US" altLang="zh-CN" sz="2400">
                <a:solidFill>
                  <a:srgbClr val="FF0000"/>
                </a:solidFill>
                <a:sym typeface="+mn-ea"/>
              </a:rPr>
              <a:t>P130</a:t>
            </a:r>
            <a:r>
              <a:rPr lang="zh-CN" altLang="en-US" sz="2400">
                <a:solidFill>
                  <a:srgbClr val="FF0000"/>
                </a:solidFill>
                <a:sym typeface="+mn-ea"/>
              </a:rPr>
              <a:t>第</a:t>
            </a:r>
            <a:r>
              <a:rPr lang="en-US" altLang="zh-CN" sz="2400">
                <a:solidFill>
                  <a:srgbClr val="FF0000"/>
                </a:solidFill>
                <a:sym typeface="+mn-ea"/>
              </a:rPr>
              <a:t>7.8</a:t>
            </a:r>
            <a:r>
              <a:rPr lang="zh-CN" altLang="en-US" sz="2400">
                <a:solidFill>
                  <a:srgbClr val="FF0000"/>
                </a:solidFill>
                <a:sym typeface="+mn-ea"/>
              </a:rPr>
              <a:t>节三维几何变换或者</a:t>
            </a:r>
            <a:r>
              <a:rPr lang="en-US" altLang="zh-CN" sz="2400">
                <a:solidFill>
                  <a:srgbClr val="FF0000"/>
                </a:solidFill>
                <a:sym typeface="+mn-ea"/>
              </a:rPr>
              <a:t>PJ1</a:t>
            </a:r>
            <a:r>
              <a:rPr lang="zh-CN" altLang="en-US" sz="2400">
                <a:solidFill>
                  <a:srgbClr val="FF0000"/>
                </a:solidFill>
                <a:sym typeface="+mn-ea"/>
              </a:rPr>
              <a:t>的广义圆柱体。</a:t>
            </a:r>
            <a:r>
              <a:rPr lang="zh-CN" altLang="en-US" sz="2400"/>
              <a:t>它也是从</a:t>
            </a:r>
            <a:r>
              <a:rPr lang="en-US" altLang="zh-CN" sz="2400"/>
              <a:t>Object3D</a:t>
            </a:r>
            <a:r>
              <a:rPr lang="zh-CN" altLang="en-US" sz="2400"/>
              <a:t>派生出来的。</a:t>
            </a:r>
            <a:r>
              <a:rPr sz="2400">
                <a:sym typeface="+mn-ea"/>
              </a:rPr>
              <a:t>变换类</a:t>
            </a:r>
            <a:r>
              <a:rPr sz="2400"/>
              <a:t>存储一个指向子对象三维节点的指针。它还存储了一个4x4的变换矩阵</a:t>
            </a:r>
            <a:r>
              <a:rPr lang="en-US" sz="2400"/>
              <a:t>M</a:t>
            </a:r>
            <a:r>
              <a:rPr sz="2400"/>
              <a:t>。这个矩阵将</a:t>
            </a:r>
            <a:r>
              <a:rPr sz="2400">
                <a:sym typeface="+mn-ea"/>
              </a:rPr>
              <a:t>子对象</a:t>
            </a:r>
            <a:r>
              <a:rPr sz="2400"/>
              <a:t>从局部对象坐标移动到世界坐标。</a:t>
            </a:r>
          </a:p>
          <a:p>
            <a:r>
              <a:rPr lang="zh-CN" sz="2400"/>
              <a:t>但是</a:t>
            </a:r>
            <a:r>
              <a:rPr sz="2400"/>
              <a:t>对于复杂的子对象，例如具有许多顶点的网格，每当我们想要跟踪一条射线时，</a:t>
            </a:r>
            <a:r>
              <a:rPr lang="zh-CN" sz="2400"/>
              <a:t>我们不能</a:t>
            </a:r>
            <a:r>
              <a:rPr sz="2400"/>
              <a:t>将整个对象移动到世界</a:t>
            </a:r>
            <a:r>
              <a:rPr lang="zh-CN" sz="2400"/>
              <a:t>坐标</a:t>
            </a:r>
            <a:r>
              <a:rPr sz="2400"/>
              <a:t>。</a:t>
            </a:r>
            <a:r>
              <a:rPr lang="zh-CN" sz="2400"/>
              <a:t>而</a:t>
            </a:r>
            <a:r>
              <a:rPr sz="2400"/>
              <a:t>将光线从世界</a:t>
            </a:r>
            <a:r>
              <a:rPr lang="zh-CN" sz="2400"/>
              <a:t>坐标</a:t>
            </a:r>
            <a:r>
              <a:rPr sz="2400"/>
              <a:t>移动到</a:t>
            </a:r>
            <a:r>
              <a:rPr sz="2400">
                <a:sym typeface="+mn-ea"/>
              </a:rPr>
              <a:t>局部对象坐标</a:t>
            </a:r>
            <a:r>
              <a:rPr sz="2400"/>
              <a:t>要</a:t>
            </a:r>
            <a:r>
              <a:rPr lang="zh-CN" sz="2400"/>
              <a:t>计算小</a:t>
            </a:r>
            <a:r>
              <a:rPr sz="2400"/>
              <a:t>得多。</a:t>
            </a:r>
          </a:p>
          <a:p>
            <a:r>
              <a:rPr sz="2400"/>
              <a:t>命中</a:t>
            </a:r>
            <a:r>
              <a:rPr lang="zh-CN" sz="2400"/>
              <a:t>点（</a:t>
            </a:r>
            <a:r>
              <a:rPr lang="en-US" altLang="zh-CN" sz="2400"/>
              <a:t>Hit</a:t>
            </a:r>
            <a:r>
              <a:rPr lang="zh-CN" sz="2400"/>
              <a:t>）找到的时候</a:t>
            </a:r>
            <a:r>
              <a:rPr sz="2400"/>
              <a:t>，命中法线</a:t>
            </a:r>
            <a:r>
              <a:rPr lang="zh-CN" sz="2400"/>
              <a:t>也会</a:t>
            </a:r>
            <a:r>
              <a:rPr sz="2400"/>
              <a:t>在对象坐标中。你必须将法线从局部坐标转换回世界坐标。请记住，</a:t>
            </a:r>
            <a:r>
              <a:rPr lang="zh-CN" sz="2400"/>
              <a:t>和</a:t>
            </a:r>
            <a:r>
              <a:rPr lang="en-US" altLang="zh-CN" sz="2400"/>
              <a:t>PJ1</a:t>
            </a:r>
            <a:r>
              <a:rPr lang="zh-CN" altLang="en-US" sz="2400"/>
              <a:t>一样</a:t>
            </a:r>
            <a:r>
              <a:rPr sz="2400"/>
              <a:t>在变换法线方向时，</a:t>
            </a:r>
            <a:r>
              <a:rPr lang="zh-CN" sz="2400"/>
              <a:t>你</a:t>
            </a:r>
            <a:r>
              <a:rPr sz="2400"/>
              <a:t>需要通过变换矩阵的逆转置来进行变换。</a:t>
            </a:r>
          </a:p>
          <a:p>
            <a:r>
              <a:rPr lang="zh-CN" sz="2400"/>
              <a:t>实现完变换类之后你就可以渲染场景</a:t>
            </a:r>
            <a:r>
              <a:rPr lang="en-US" altLang="zh-CN" sz="2400"/>
              <a:t>1-5</a:t>
            </a:r>
            <a:r>
              <a:rPr lang="zh-CN" altLang="en-US" sz="2400"/>
              <a:t>了。</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en-US" altLang="zh-CN" dirty="0">
              <a:solidFill>
                <a:schemeClr val="tx1"/>
              </a:solidFill>
              <a:cs typeface="等线" panose="02010600030101010101" charset="-122"/>
              <a:sym typeface="+mn-ea"/>
            </a:endParaRPr>
          </a:p>
        </p:txBody>
      </p:sp>
      <p:sp>
        <p:nvSpPr>
          <p:cNvPr id="3" name="内容占位符 2"/>
          <p:cNvSpPr>
            <a:spLocks noGrp="1"/>
          </p:cNvSpPr>
          <p:nvPr>
            <p:ph idx="1"/>
          </p:nvPr>
        </p:nvSpPr>
        <p:spPr/>
        <p:txBody>
          <a:bodyPr/>
          <a:lstStyle/>
          <a:p>
            <a:r>
              <a:rPr lang="zh-CN" altLang="en-US">
                <a:solidFill>
                  <a:schemeClr val="tx1"/>
                </a:solidFill>
              </a:rPr>
              <a:t>任务</a:t>
            </a:r>
            <a:r>
              <a:rPr lang="en-US" altLang="zh-CN">
                <a:solidFill>
                  <a:schemeClr val="tx1"/>
                </a:solidFill>
              </a:rPr>
              <a:t>3</a:t>
            </a:r>
            <a:r>
              <a:rPr lang="zh-CN" altLang="en-US">
                <a:solidFill>
                  <a:schemeClr val="tx1"/>
                </a:solidFill>
              </a:rPr>
              <a:t>要求：</a:t>
            </a:r>
          </a:p>
          <a:p>
            <a:r>
              <a:rPr lang="zh-CN" altLang="en-US">
                <a:solidFill>
                  <a:schemeClr val="tx1"/>
                </a:solidFill>
              </a:rPr>
              <a:t>在光线投射完成后，你将通过在渲染器（</a:t>
            </a:r>
            <a:r>
              <a:rPr lang="en-US" altLang="zh-CN">
                <a:solidFill>
                  <a:schemeClr val="tx1"/>
                </a:solidFill>
              </a:rPr>
              <a:t>Renderer::Render</a:t>
            </a:r>
            <a:r>
              <a:rPr lang="zh-CN" altLang="en-US">
                <a:solidFill>
                  <a:schemeClr val="tx1"/>
                </a:solidFill>
              </a:rPr>
              <a:t>）递归中进行函数调用来实现光线跟踪。你还可以通过投射阴影光线来确定可见性。</a:t>
            </a:r>
          </a:p>
          <a:p>
            <a:r>
              <a:rPr lang="zh-CN" altLang="en-US">
                <a:solidFill>
                  <a:srgbClr val="FF0000"/>
                </a:solidFill>
              </a:rPr>
              <a:t>你需要实现</a:t>
            </a:r>
            <a:r>
              <a:rPr lang="en-US" altLang="zh-CN">
                <a:solidFill>
                  <a:srgbClr val="FF0000"/>
                </a:solidFill>
                <a:sym typeface="+mn-ea"/>
              </a:rPr>
              <a:t>Renderer::traceRay()</a:t>
            </a:r>
            <a:r>
              <a:rPr lang="zh-CN" altLang="en-US">
                <a:solidFill>
                  <a:srgbClr val="FF0000"/>
                </a:solidFill>
                <a:sym typeface="+mn-ea"/>
              </a:rPr>
              <a:t>函数中的递归调用并且实现阴影光线。</a:t>
            </a:r>
          </a:p>
          <a:p>
            <a:r>
              <a:rPr lang="zh-CN" altLang="en-US">
                <a:solidFill>
                  <a:srgbClr val="FF0000"/>
                </a:solidFill>
                <a:sym typeface="+mn-ea"/>
              </a:rPr>
              <a:t>请参考教材《计算机图形学》</a:t>
            </a:r>
            <a:r>
              <a:rPr lang="en-US" altLang="zh-CN">
                <a:solidFill>
                  <a:srgbClr val="FF0000"/>
                </a:solidFill>
                <a:sym typeface="+mn-ea"/>
              </a:rPr>
              <a:t>P319</a:t>
            </a:r>
            <a:r>
              <a:rPr lang="zh-CN" altLang="en-US">
                <a:solidFill>
                  <a:srgbClr val="FF0000"/>
                </a:solidFill>
                <a:sym typeface="+mn-ea"/>
              </a:rPr>
              <a:t>第</a:t>
            </a:r>
            <a:r>
              <a:rPr lang="en-US" altLang="zh-CN">
                <a:solidFill>
                  <a:srgbClr val="FF0000"/>
                </a:solidFill>
                <a:sym typeface="+mn-ea"/>
              </a:rPr>
              <a:t>13.6</a:t>
            </a:r>
            <a:r>
              <a:rPr lang="zh-CN" altLang="en-US">
                <a:solidFill>
                  <a:srgbClr val="FF0000"/>
                </a:solidFill>
                <a:sym typeface="+mn-ea"/>
              </a:rPr>
              <a:t>节整体光照明模型与光线跟踪算法《</a:t>
            </a:r>
            <a:r>
              <a:rPr lang="en-US" altLang="zh-CN">
                <a:solidFill>
                  <a:srgbClr val="FF0000"/>
                </a:solidFill>
                <a:sym typeface="+mn-ea"/>
              </a:rPr>
              <a:t>Fundamentals of Computer Graphics</a:t>
            </a:r>
            <a:r>
              <a:rPr lang="zh-CN" altLang="en-US">
                <a:solidFill>
                  <a:srgbClr val="FF0000"/>
                </a:solidFill>
                <a:sym typeface="+mn-ea"/>
              </a:rPr>
              <a:t>》4.6 A Ray-Tracing Program和4.7 Shadows</a:t>
            </a:r>
          </a:p>
          <a:p>
            <a:endParaRPr lang="zh-CN" altLang="en-US">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zh-CN" altLang="en-US"/>
          </a:p>
        </p:txBody>
      </p:sp>
      <p:sp>
        <p:nvSpPr>
          <p:cNvPr id="3" name="内容占位符 2"/>
          <p:cNvSpPr>
            <a:spLocks noGrp="1"/>
          </p:cNvSpPr>
          <p:nvPr>
            <p:ph idx="1"/>
          </p:nvPr>
        </p:nvSpPr>
        <p:spPr>
          <a:xfrm>
            <a:off x="838200" y="1825625"/>
            <a:ext cx="6851650" cy="4351655"/>
          </a:xfrm>
        </p:spPr>
        <p:txBody>
          <a:bodyPr>
            <a:normAutofit fontScale="90000" lnSpcReduction="10000"/>
          </a:bodyPr>
          <a:lstStyle/>
          <a:p>
            <a:pPr>
              <a:lnSpc>
                <a:spcPct val="100000"/>
              </a:lnSpc>
            </a:pPr>
            <a:r>
              <a:rPr lang="zh-CN" altLang="en-US" sz="1800">
                <a:solidFill>
                  <a:srgbClr val="FF0000"/>
                </a:solidFill>
              </a:rPr>
              <a:t>你将实现</a:t>
            </a:r>
            <a:r>
              <a:rPr lang="en-US" altLang="zh-CN" sz="1800">
                <a:solidFill>
                  <a:srgbClr val="FF0000"/>
                </a:solidFill>
              </a:rPr>
              <a:t>-bounces</a:t>
            </a:r>
            <a:r>
              <a:rPr lang="zh-CN" altLang="en-US" sz="1800">
                <a:solidFill>
                  <a:srgbClr val="FF0000"/>
                </a:solidFill>
              </a:rPr>
              <a:t>参数的功能，也就是光线追踪。</a:t>
            </a:r>
          </a:p>
          <a:p>
            <a:pPr>
              <a:lnSpc>
                <a:spcPct val="100000"/>
              </a:lnSpc>
            </a:pPr>
            <a:r>
              <a:rPr lang="zh-CN" altLang="en-US" sz="1800"/>
              <a:t>traceRay将对</a:t>
            </a:r>
            <a:r>
              <a:rPr lang="zh-CN" altLang="en-US" sz="1800" b="1"/>
              <a:t>镜面材料</a:t>
            </a:r>
            <a:r>
              <a:rPr lang="en-US" altLang="zh-CN" sz="1800" b="1"/>
              <a:t>(Specular)</a:t>
            </a:r>
            <a:r>
              <a:rPr lang="zh-CN" altLang="en-US" sz="1800"/>
              <a:t>进行递归调用。最大递归深度作为命令行参数传递</a:t>
            </a:r>
            <a:r>
              <a:rPr lang="en-US" altLang="zh-CN" sz="1800"/>
              <a:t>-</a:t>
            </a:r>
            <a:r>
              <a:rPr sz="1800"/>
              <a:t>bounces max</a:t>
            </a:r>
            <a:r>
              <a:rPr lang="en-US" sz="1800"/>
              <a:t>_</a:t>
            </a:r>
            <a:r>
              <a:rPr sz="1800"/>
              <a:t>bounces</a:t>
            </a:r>
            <a:r>
              <a:rPr lang="zh-CN" altLang="en-US" sz="1800"/>
              <a:t>。请使用样例程序并修改这个参数尝试一下。注意，即使</a:t>
            </a:r>
            <a:r>
              <a:rPr sz="1800">
                <a:sym typeface="+mn-ea"/>
              </a:rPr>
              <a:t>max</a:t>
            </a:r>
            <a:r>
              <a:rPr lang="en-US" sz="1800">
                <a:sym typeface="+mn-ea"/>
              </a:rPr>
              <a:t>_</a:t>
            </a:r>
            <a:r>
              <a:rPr sz="1800">
                <a:sym typeface="+mn-ea"/>
              </a:rPr>
              <a:t>bounces</a:t>
            </a:r>
            <a:r>
              <a:rPr lang="zh-CN" altLang="en-US" sz="1800"/>
              <a:t>=0，程序也会做光线投射。</a:t>
            </a:r>
          </a:p>
          <a:p>
            <a:pPr>
              <a:lnSpc>
                <a:spcPct val="100000"/>
              </a:lnSpc>
            </a:pPr>
            <a:r>
              <a:rPr lang="zh-CN" altLang="en-US" sz="1800"/>
              <a:t>请实现通过从当前交点（</a:t>
            </a:r>
            <a:r>
              <a:rPr lang="en-US" altLang="zh-CN" sz="1800"/>
              <a:t>Hit</a:t>
            </a:r>
            <a:r>
              <a:rPr lang="zh-CN" altLang="en-US" sz="1800"/>
              <a:t>）发送光线（</a:t>
            </a:r>
            <a:r>
              <a:rPr lang="en-US" altLang="zh-CN" sz="1800"/>
              <a:t>Ray</a:t>
            </a:r>
            <a:r>
              <a:rPr lang="zh-CN" altLang="en-US" sz="1800"/>
              <a:t>）到完美反射方向</a:t>
            </a:r>
            <a:r>
              <a:rPr lang="en-US" altLang="zh-CN" sz="1800"/>
              <a:t>R</a:t>
            </a:r>
            <a:r>
              <a:rPr lang="zh-CN" altLang="en-US" sz="1800"/>
              <a:t>的光线，使用修改的递归深度递归调用traceRay来跟踪辅助射线。</a:t>
            </a:r>
          </a:p>
          <a:p>
            <a:pPr>
              <a:lnSpc>
                <a:spcPct val="100000"/>
              </a:lnSpc>
            </a:pPr>
            <a:r>
              <a:rPr lang="zh-CN" altLang="en-US" sz="1800"/>
              <a:t>总的光强现在变为了直接光和间接光的加和。我们将反射射线所看到的颜色乘以镜面材料的反射率添加到为当前射线计算的颜色中。如果直接照明（环境照明、漫反射照明、镜面照明）是</a:t>
            </a:r>
            <a:r>
              <a:rPr lang="en-US" altLang="zh-CN" sz="1800"/>
              <a:t>I_direct</a:t>
            </a:r>
            <a:r>
              <a:rPr lang="zh-CN" altLang="en-US" sz="1800"/>
              <a:t>，则直接照明和间接照明的总强度为</a:t>
            </a:r>
          </a:p>
          <a:p>
            <a:pPr>
              <a:lnSpc>
                <a:spcPct val="100000"/>
              </a:lnSpc>
            </a:pPr>
            <a:endParaRPr lang="zh-CN" altLang="en-US" sz="1800"/>
          </a:p>
          <a:p>
            <a:pPr>
              <a:lnSpc>
                <a:spcPct val="100000"/>
              </a:lnSpc>
            </a:pPr>
            <a:endParaRPr lang="zh-CN" altLang="en-US" sz="1800"/>
          </a:p>
          <a:p>
            <a:pPr>
              <a:lnSpc>
                <a:spcPct val="100000"/>
              </a:lnSpc>
            </a:pPr>
            <a:r>
              <a:rPr lang="zh-CN" altLang="en-US" sz="1800"/>
              <a:t>如果一条光线没有击中任何东西，只需通过SceneParser::getBackgroundColor(dir)返回背景颜色即可。</a:t>
            </a:r>
          </a:p>
          <a:p>
            <a:pPr>
              <a:lnSpc>
                <a:spcPct val="100000"/>
              </a:lnSpc>
            </a:pPr>
            <a:r>
              <a:rPr lang="zh-CN" altLang="en-US" sz="1800"/>
              <a:t>实现这个之后你可以渲染场景</a:t>
            </a:r>
            <a:r>
              <a:rPr lang="en-US" altLang="zh-CN" sz="1800"/>
              <a:t>6</a:t>
            </a:r>
            <a:r>
              <a:rPr lang="zh-CN" altLang="en-US" sz="1800"/>
              <a:t>的兔子模型了。</a:t>
            </a:r>
          </a:p>
        </p:txBody>
      </p:sp>
      <p:pic>
        <p:nvPicPr>
          <p:cNvPr id="4" name="图片 3"/>
          <p:cNvPicPr>
            <a:picLocks noChangeAspect="1"/>
          </p:cNvPicPr>
          <p:nvPr>
            <p:custDataLst>
              <p:tags r:id="rId1"/>
            </p:custDataLst>
          </p:nvPr>
        </p:nvPicPr>
        <p:blipFill>
          <a:blip r:embed="rId3"/>
          <a:stretch>
            <a:fillRect/>
          </a:stretch>
        </p:blipFill>
        <p:spPr>
          <a:xfrm>
            <a:off x="2364740" y="4688840"/>
            <a:ext cx="3028950" cy="523875"/>
          </a:xfrm>
          <a:prstGeom prst="rect">
            <a:avLst/>
          </a:prstGeom>
        </p:spPr>
      </p:pic>
      <p:pic>
        <p:nvPicPr>
          <p:cNvPr id="5" name="图片 4" descr="a06"/>
          <p:cNvPicPr>
            <a:picLocks noChangeAspect="1"/>
          </p:cNvPicPr>
          <p:nvPr/>
        </p:nvPicPr>
        <p:blipFill>
          <a:blip r:embed="rId4"/>
          <a:stretch>
            <a:fillRect/>
          </a:stretch>
        </p:blipFill>
        <p:spPr>
          <a:xfrm>
            <a:off x="8032115" y="3140710"/>
            <a:ext cx="3263900" cy="3263900"/>
          </a:xfrm>
          <a:prstGeom prst="rect">
            <a:avLst/>
          </a:prstGeom>
        </p:spPr>
      </p:pic>
      <p:pic>
        <p:nvPicPr>
          <p:cNvPr id="105" name="图片 104"/>
          <p:cNvPicPr/>
          <p:nvPr/>
        </p:nvPicPr>
        <p:blipFill>
          <a:blip>
            <a:extLst>
              <a:ext uri="{96DAC541-7B7A-43D3-8B79-37D633B846F1}">
                <asvg:svgBlip xmlns:asvg="http://schemas.microsoft.com/office/drawing/2016/SVG/main" r:embed="rId5"/>
              </a:ext>
            </a:extLst>
          </a:blip>
          <a:stretch>
            <a:fillRect/>
          </a:stretch>
        </p:blipFill>
        <p:spPr>
          <a:xfrm>
            <a:off x="8032115" y="1264285"/>
            <a:ext cx="3263900" cy="1457325"/>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zh-CN" altLang="en-US"/>
          </a:p>
        </p:txBody>
      </p:sp>
      <p:sp>
        <p:nvSpPr>
          <p:cNvPr id="3" name="内容占位符 2"/>
          <p:cNvSpPr>
            <a:spLocks noGrp="1"/>
          </p:cNvSpPr>
          <p:nvPr>
            <p:ph idx="1"/>
          </p:nvPr>
        </p:nvSpPr>
        <p:spPr>
          <a:xfrm>
            <a:off x="838200" y="1825625"/>
            <a:ext cx="6801485" cy="4351655"/>
          </a:xfrm>
        </p:spPr>
        <p:txBody>
          <a:bodyPr>
            <a:normAutofit fontScale="97500" lnSpcReduction="10000"/>
          </a:bodyPr>
          <a:lstStyle/>
          <a:p>
            <a:pPr>
              <a:lnSpc>
                <a:spcPct val="100000"/>
              </a:lnSpc>
            </a:pPr>
            <a:r>
              <a:rPr lang="zh-CN" altLang="en-US" sz="2400">
                <a:solidFill>
                  <a:srgbClr val="FF0000"/>
                </a:solidFill>
                <a:sym typeface="+mn-ea"/>
              </a:rPr>
              <a:t>你将实现</a:t>
            </a:r>
            <a:r>
              <a:rPr lang="en-US" altLang="zh-CN" sz="2400">
                <a:solidFill>
                  <a:srgbClr val="FF0000"/>
                </a:solidFill>
                <a:sym typeface="+mn-ea"/>
              </a:rPr>
              <a:t>-shadows</a:t>
            </a:r>
            <a:r>
              <a:rPr lang="zh-CN" altLang="en-US" sz="2400">
                <a:solidFill>
                  <a:srgbClr val="FF0000"/>
                </a:solidFill>
                <a:sym typeface="+mn-ea"/>
              </a:rPr>
              <a:t>参数的功能，也就是阴影计算。</a:t>
            </a:r>
          </a:p>
          <a:p>
            <a:pPr>
              <a:lnSpc>
                <a:spcPct val="100000"/>
              </a:lnSpc>
            </a:pPr>
            <a:r>
              <a:rPr lang="zh-CN" altLang="en-US" sz="2400">
                <a:solidFill>
                  <a:schemeClr val="tx1"/>
                </a:solidFill>
              </a:rPr>
              <a:t>要计算投射的阴影，在计算表面上面</a:t>
            </a:r>
            <a:r>
              <a:rPr lang="zh-CN" altLang="en-US" sz="2400">
                <a:sym typeface="+mn-ea"/>
              </a:rPr>
              <a:t>每一个点</a:t>
            </a:r>
            <a:r>
              <a:rPr lang="zh-CN" altLang="en-US" sz="2400">
                <a:solidFill>
                  <a:schemeClr val="tx1"/>
                </a:solidFill>
              </a:rPr>
              <a:t>的颜色之前，也就是</a:t>
            </a:r>
            <a:r>
              <a:rPr lang="en-US" altLang="zh-CN" sz="2400">
                <a:solidFill>
                  <a:srgbClr val="FF0000"/>
                </a:solidFill>
              </a:rPr>
              <a:t>2.1</a:t>
            </a:r>
            <a:r>
              <a:rPr lang="zh-CN" altLang="en-US" sz="2400">
                <a:solidFill>
                  <a:srgbClr val="FF0000"/>
                </a:solidFill>
              </a:rPr>
              <a:t>节中每次shade(</a:t>
            </a:r>
            <a:r>
              <a:rPr lang="en-US" altLang="zh-CN" sz="2400">
                <a:solidFill>
                  <a:srgbClr val="FF0000"/>
                </a:solidFill>
              </a:rPr>
              <a:t>)</a:t>
            </a:r>
            <a:r>
              <a:rPr lang="zh-CN" altLang="en-US" sz="2400">
                <a:solidFill>
                  <a:srgbClr val="FF0000"/>
                </a:solidFill>
              </a:rPr>
              <a:t>函数调用之前</a:t>
            </a:r>
            <a:r>
              <a:rPr lang="zh-CN" altLang="en-US" sz="2400">
                <a:solidFill>
                  <a:schemeClr val="tx1"/>
                </a:solidFill>
              </a:rPr>
              <a:t>。</a:t>
            </a:r>
          </a:p>
          <a:p>
            <a:pPr>
              <a:lnSpc>
                <a:spcPct val="100000"/>
              </a:lnSpc>
            </a:pPr>
            <a:r>
              <a:rPr lang="zh-CN" altLang="en-US" sz="2400">
                <a:solidFill>
                  <a:schemeClr val="tx1"/>
                </a:solidFill>
              </a:rPr>
              <a:t>你将从这个点（</a:t>
            </a:r>
            <a:r>
              <a:rPr lang="en-US" altLang="zh-CN" sz="2400">
                <a:solidFill>
                  <a:schemeClr val="tx1"/>
                </a:solidFill>
              </a:rPr>
              <a:t>Hit</a:t>
            </a:r>
            <a:r>
              <a:rPr lang="zh-CN" altLang="en-US" sz="2400">
                <a:solidFill>
                  <a:schemeClr val="tx1"/>
                </a:solidFill>
              </a:rPr>
              <a:t>）向光源（</a:t>
            </a:r>
            <a:r>
              <a:rPr lang="en-US" altLang="zh-CN" sz="2400">
                <a:solidFill>
                  <a:schemeClr val="tx1"/>
                </a:solidFill>
              </a:rPr>
              <a:t>light</a:t>
            </a:r>
            <a:r>
              <a:rPr lang="zh-CN" altLang="en-US" sz="2400">
                <a:solidFill>
                  <a:schemeClr val="tx1"/>
                </a:solidFill>
              </a:rPr>
              <a:t>）发送光线。如果在光源之前有相交点（</a:t>
            </a:r>
            <a:r>
              <a:rPr lang="en-US" altLang="zh-CN" sz="2400">
                <a:solidFill>
                  <a:schemeClr val="tx1"/>
                </a:solidFill>
              </a:rPr>
              <a:t>Hit</a:t>
            </a:r>
            <a:r>
              <a:rPr lang="zh-CN" altLang="en-US" sz="2400">
                <a:solidFill>
                  <a:schemeClr val="tx1"/>
                </a:solidFill>
              </a:rPr>
              <a:t>），则当前的表面点处于阴影中，并忽略来自该光源的直接照明。</a:t>
            </a:r>
          </a:p>
          <a:p>
            <a:pPr>
              <a:lnSpc>
                <a:spcPct val="100000"/>
              </a:lnSpc>
            </a:pPr>
            <a:r>
              <a:rPr lang="zh-CN" altLang="en-US" sz="2400">
                <a:solidFill>
                  <a:schemeClr val="tx1"/>
                </a:solidFill>
              </a:rPr>
              <a:t>请注意，必须将阴影光线发送到所有光源。你必须将光线原点稍微远离表面，或者同等地将tmin设置为某个极小值，否则会和自己相交。</a:t>
            </a:r>
          </a:p>
          <a:p>
            <a:pPr>
              <a:lnSpc>
                <a:spcPct val="100000"/>
              </a:lnSpc>
            </a:pPr>
            <a:r>
              <a:rPr lang="zh-CN" altLang="en-US" sz="2400">
                <a:sym typeface="+mn-ea"/>
              </a:rPr>
              <a:t>实现这个之后你可以渲染场景</a:t>
            </a:r>
            <a:r>
              <a:rPr lang="en-US" altLang="zh-CN" sz="2400">
                <a:sym typeface="+mn-ea"/>
              </a:rPr>
              <a:t>7</a:t>
            </a:r>
            <a:r>
              <a:rPr lang="zh-CN" altLang="en-US" sz="2400">
                <a:sym typeface="+mn-ea"/>
              </a:rPr>
              <a:t>的模型了。</a:t>
            </a:r>
            <a:endParaRPr lang="zh-CN" altLang="en-US" sz="2400"/>
          </a:p>
          <a:p>
            <a:pPr>
              <a:lnSpc>
                <a:spcPct val="100000"/>
              </a:lnSpc>
            </a:pPr>
            <a:endParaRPr lang="zh-CN" altLang="en-US" sz="2400">
              <a:solidFill>
                <a:schemeClr val="tx1"/>
              </a:solidFill>
            </a:endParaRPr>
          </a:p>
          <a:p>
            <a:endParaRPr lang="zh-CN" altLang="en-US" sz="2400">
              <a:solidFill>
                <a:schemeClr val="tx1"/>
              </a:solidFill>
            </a:endParaRPr>
          </a:p>
        </p:txBody>
      </p:sp>
      <p:pic>
        <p:nvPicPr>
          <p:cNvPr id="4" name="图片 3" descr="a07"/>
          <p:cNvPicPr>
            <a:picLocks noChangeAspect="1"/>
          </p:cNvPicPr>
          <p:nvPr/>
        </p:nvPicPr>
        <p:blipFill>
          <a:blip r:embed="rId2"/>
          <a:stretch>
            <a:fillRect/>
          </a:stretch>
        </p:blipFill>
        <p:spPr>
          <a:xfrm>
            <a:off x="7924800" y="2011045"/>
            <a:ext cx="3429000" cy="3429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p>
        </p:txBody>
      </p:sp>
      <p:sp>
        <p:nvSpPr>
          <p:cNvPr id="3" name="内容占位符 2"/>
          <p:cNvSpPr>
            <a:spLocks noGrp="1"/>
          </p:cNvSpPr>
          <p:nvPr>
            <p:ph idx="1"/>
          </p:nvPr>
        </p:nvSpPr>
        <p:spPr>
          <a:xfrm>
            <a:off x="838200" y="1825625"/>
            <a:ext cx="10514965" cy="4351655"/>
          </a:xfrm>
        </p:spPr>
        <p:txBody>
          <a:bodyPr>
            <a:normAutofit fontScale="70000" lnSpcReduction="20000"/>
          </a:bodyPr>
          <a:lstStyle/>
          <a:p>
            <a:pPr>
              <a:lnSpc>
                <a:spcPct val="100000"/>
              </a:lnSpc>
            </a:pPr>
            <a:r>
              <a:rPr lang="zh-CN" altLang="en-US" dirty="0">
                <a:solidFill>
                  <a:schemeClr val="tx1"/>
                </a:solidFill>
              </a:rPr>
              <a:t>抗锯齿是非常常见的图形学技术，在很多游戏的画质选项里面我们会遇到</a:t>
            </a:r>
            <a:r>
              <a:rPr lang="en-US" altLang="zh-CN" dirty="0">
                <a:solidFill>
                  <a:schemeClr val="tx1"/>
                </a:solidFill>
              </a:rPr>
              <a:t>FXAA</a:t>
            </a:r>
            <a:r>
              <a:rPr lang="zh-CN" altLang="en-US" dirty="0">
                <a:solidFill>
                  <a:schemeClr val="tx1"/>
                </a:solidFill>
              </a:rPr>
              <a:t>，</a:t>
            </a:r>
            <a:r>
              <a:rPr lang="en-US" altLang="zh-CN" dirty="0">
                <a:solidFill>
                  <a:schemeClr val="tx1"/>
                </a:solidFill>
              </a:rPr>
              <a:t>TAA</a:t>
            </a:r>
            <a:r>
              <a:rPr lang="zh-CN" altLang="en-US" dirty="0">
                <a:solidFill>
                  <a:schemeClr val="tx1"/>
                </a:solidFill>
              </a:rPr>
              <a:t>，</a:t>
            </a:r>
            <a:r>
              <a:rPr lang="en-US" altLang="zh-CN" dirty="0">
                <a:solidFill>
                  <a:schemeClr val="tx1"/>
                </a:solidFill>
              </a:rPr>
              <a:t>DLSS</a:t>
            </a:r>
            <a:r>
              <a:rPr lang="zh-CN" altLang="en-US" dirty="0">
                <a:solidFill>
                  <a:schemeClr val="tx1"/>
                </a:solidFill>
              </a:rPr>
              <a:t>和</a:t>
            </a:r>
            <a:r>
              <a:rPr lang="en-US" altLang="zh-CN" dirty="0">
                <a:solidFill>
                  <a:schemeClr val="tx1"/>
                </a:solidFill>
              </a:rPr>
              <a:t>FSR</a:t>
            </a:r>
            <a:r>
              <a:rPr lang="zh-CN" altLang="en-US" dirty="0">
                <a:solidFill>
                  <a:schemeClr val="tx1"/>
                </a:solidFill>
              </a:rPr>
              <a:t>等等抗锯齿的方法。我们实现的渲染器也存在很明显的锯齿，需要使用一定的方法来缓解。</a:t>
            </a:r>
            <a:r>
              <a:rPr lang="zh-CN" dirty="0">
                <a:sym typeface="+mn-ea"/>
              </a:rPr>
              <a:t>教材《计算机图形学》</a:t>
            </a:r>
            <a:r>
              <a:rPr lang="en-US" altLang="zh-CN" dirty="0">
                <a:sym typeface="+mn-ea"/>
              </a:rPr>
              <a:t>P326</a:t>
            </a:r>
            <a:r>
              <a:rPr lang="zh-CN" altLang="en-US" dirty="0">
                <a:sym typeface="+mn-ea"/>
              </a:rPr>
              <a:t>第</a:t>
            </a:r>
            <a:r>
              <a:rPr lang="en-US" altLang="zh-CN" dirty="0">
                <a:sym typeface="+mn-ea"/>
              </a:rPr>
              <a:t>13.6.5</a:t>
            </a:r>
            <a:r>
              <a:rPr lang="zh-CN" altLang="en-US" dirty="0">
                <a:sym typeface="+mn-ea"/>
              </a:rPr>
              <a:t>节光线跟踪算法的混淆与反混淆</a:t>
            </a:r>
            <a:r>
              <a:rPr lang="zh-CN" altLang="en-US" dirty="0">
                <a:solidFill>
                  <a:schemeClr val="tx1"/>
                </a:solidFill>
                <a:sym typeface="+mn-ea"/>
              </a:rPr>
              <a:t>中提到了这个问题，我们可以通过增加采样和提升分辨率进行解决。</a:t>
            </a:r>
          </a:p>
          <a:p>
            <a:pPr>
              <a:lnSpc>
                <a:spcPct val="100000"/>
              </a:lnSpc>
            </a:pPr>
            <a:r>
              <a:rPr lang="zh-CN" altLang="en-US" dirty="0">
                <a:solidFill>
                  <a:schemeClr val="tx1"/>
                </a:solidFill>
              </a:rPr>
              <a:t>抖动采样是一种用于创建更逼真、更自然的图形的技术。它涉及随机偏移像素内样本的位置，以模拟相机或眼睛轻微移动的效果。抖动采样可以参考《虎书》13.4.1 Antialiasing。</a:t>
            </a:r>
          </a:p>
          <a:p>
            <a:pPr>
              <a:lnSpc>
                <a:spcPct val="100000"/>
              </a:lnSpc>
            </a:pPr>
            <a:r>
              <a:rPr lang="zh-CN" altLang="en-US" dirty="0">
                <a:solidFill>
                  <a:schemeClr val="tx1"/>
                </a:solidFill>
              </a:rPr>
              <a:t>提升分辨率通常与高斯模糊滤波结合使用，高斯模糊滤波是一种常见的图像平滑滤波器。高斯滤波可以参考《</a:t>
            </a:r>
            <a:r>
              <a:rPr lang="zh-CN" altLang="en-US" dirty="0">
                <a:sym typeface="+mn-ea"/>
              </a:rPr>
              <a:t>虎书》</a:t>
            </a:r>
            <a:r>
              <a:rPr lang="zh-CN" altLang="en-US" dirty="0">
                <a:solidFill>
                  <a:schemeClr val="tx1"/>
                </a:solidFill>
              </a:rPr>
              <a:t>9.3 Convolution Filters。</a:t>
            </a:r>
          </a:p>
          <a:p>
            <a:pPr>
              <a:lnSpc>
                <a:spcPct val="100000"/>
              </a:lnSpc>
            </a:pPr>
            <a:r>
              <a:rPr lang="zh-CN" altLang="en-US" dirty="0">
                <a:solidFill>
                  <a:srgbClr val="FF0000"/>
                </a:solidFill>
                <a:sym typeface="+mn-ea"/>
              </a:rPr>
              <a:t>请在Renderer::Render()函数中实现并使用-jitter（抖动采样）和 -filter（控制上采样和高斯滤波）两个参数分别进行控制，具体效果可以参考示例程序使用-jitter -filter参数的结果。</a:t>
            </a:r>
          </a:p>
          <a:p>
            <a:pPr>
              <a:lnSpc>
                <a:spcPct val="100000"/>
              </a:lnSpc>
            </a:pPr>
            <a:r>
              <a:rPr lang="zh-CN" altLang="en-US" dirty="0">
                <a:solidFill>
                  <a:srgbClr val="FF0000"/>
                </a:solidFill>
                <a:sym typeface="+mn-ea"/>
              </a:rPr>
              <a:t>我们在</a:t>
            </a:r>
            <a:r>
              <a:rPr lang="zh-CN" altLang="en-US" i="1" u="sng" dirty="0">
                <a:solidFill>
                  <a:srgbClr val="FF0000"/>
                </a:solidFill>
                <a:sym typeface="+mn-ea"/>
              </a:rPr>
              <a:t>上采样</a:t>
            </a:r>
            <a:r>
              <a:rPr lang="en-US" altLang="zh-CN" i="1" u="sng" dirty="0">
                <a:solidFill>
                  <a:srgbClr val="FF0000"/>
                </a:solidFill>
                <a:sym typeface="+mn-ea"/>
              </a:rPr>
              <a:t>3</a:t>
            </a:r>
            <a:r>
              <a:rPr lang="zh-CN" altLang="en-US" i="1" u="sng" dirty="0">
                <a:solidFill>
                  <a:srgbClr val="FF0000"/>
                </a:solidFill>
                <a:sym typeface="+mn-ea"/>
              </a:rPr>
              <a:t>倍分辨率</a:t>
            </a:r>
            <a:r>
              <a:rPr lang="zh-CN" altLang="en-US" dirty="0">
                <a:solidFill>
                  <a:srgbClr val="FF0000"/>
                </a:solidFill>
                <a:sym typeface="+mn-ea"/>
              </a:rPr>
              <a:t>下进行</a:t>
            </a:r>
            <a:r>
              <a:rPr lang="en-US" altLang="zh-CN" i="1" u="sng" dirty="0">
                <a:solidFill>
                  <a:srgbClr val="FF0000"/>
                </a:solidFill>
                <a:sym typeface="+mn-ea"/>
              </a:rPr>
              <a:t>16</a:t>
            </a:r>
            <a:r>
              <a:rPr lang="zh-CN" altLang="en-US" i="1" u="sng" dirty="0">
                <a:solidFill>
                  <a:srgbClr val="FF0000"/>
                </a:solidFill>
                <a:sym typeface="+mn-ea"/>
              </a:rPr>
              <a:t>次充分抖动采样（</a:t>
            </a:r>
            <a:r>
              <a:rPr lang="en-US" altLang="zh-CN" i="1" u="sng" dirty="0">
                <a:solidFill>
                  <a:srgbClr val="FF0000"/>
                </a:solidFill>
                <a:sym typeface="+mn-ea"/>
              </a:rPr>
              <a:t>jitter</a:t>
            </a:r>
            <a:r>
              <a:rPr lang="zh-CN" altLang="en-US" i="1" u="sng" dirty="0">
                <a:solidFill>
                  <a:srgbClr val="FF0000"/>
                </a:solidFill>
                <a:sym typeface="+mn-ea"/>
              </a:rPr>
              <a:t>）</a:t>
            </a:r>
            <a:r>
              <a:rPr lang="zh-CN" altLang="en-US" dirty="0">
                <a:solidFill>
                  <a:srgbClr val="FF0000"/>
                </a:solidFill>
                <a:sym typeface="+mn-ea"/>
              </a:rPr>
              <a:t>，然后进行</a:t>
            </a:r>
            <a:r>
              <a:rPr lang="en-US" altLang="zh-CN" i="1" u="sng" dirty="0">
                <a:solidFill>
                  <a:srgbClr val="FF0000"/>
                </a:solidFill>
                <a:sym typeface="+mn-ea"/>
              </a:rPr>
              <a:t>σ</a:t>
            </a:r>
            <a:r>
              <a:rPr lang="zh-CN" altLang="en-US" i="1" u="sng" dirty="0">
                <a:solidFill>
                  <a:srgbClr val="FF0000"/>
                </a:solidFill>
                <a:sym typeface="+mn-ea"/>
              </a:rPr>
              <a:t>为</a:t>
            </a:r>
            <a:r>
              <a:rPr lang="en-US" altLang="zh-CN" i="1" u="sng" dirty="0">
                <a:solidFill>
                  <a:srgbClr val="FF0000"/>
                </a:solidFill>
                <a:sym typeface="+mn-ea"/>
              </a:rPr>
              <a:t>1</a:t>
            </a:r>
            <a:r>
              <a:rPr lang="zh-CN" altLang="en-US" i="1" u="sng" dirty="0">
                <a:solidFill>
                  <a:srgbClr val="FF0000"/>
                </a:solidFill>
                <a:sym typeface="+mn-ea"/>
              </a:rPr>
              <a:t>（也就是</a:t>
            </a:r>
            <a:r>
              <a:rPr lang="en-US" altLang="zh-CN" i="1" u="sng" dirty="0">
                <a:solidFill>
                  <a:srgbClr val="FF0000"/>
                </a:solidFill>
                <a:sym typeface="+mn-ea"/>
              </a:rPr>
              <a:t>3x3</a:t>
            </a:r>
            <a:r>
              <a:rPr lang="zh-CN" altLang="en-US" i="1" u="sng" dirty="0">
                <a:solidFill>
                  <a:srgbClr val="FF0000"/>
                </a:solidFill>
                <a:sym typeface="+mn-ea"/>
              </a:rPr>
              <a:t>像素变成</a:t>
            </a:r>
            <a:r>
              <a:rPr lang="en-US" altLang="zh-CN" i="1" u="sng" dirty="0">
                <a:solidFill>
                  <a:srgbClr val="FF0000"/>
                </a:solidFill>
                <a:sym typeface="+mn-ea"/>
              </a:rPr>
              <a:t>1x1</a:t>
            </a:r>
            <a:r>
              <a:rPr lang="zh-CN" altLang="en-US" i="1" u="sng" dirty="0">
                <a:solidFill>
                  <a:srgbClr val="FF0000"/>
                </a:solidFill>
                <a:sym typeface="+mn-ea"/>
              </a:rPr>
              <a:t>的像素，只考虑相邻的像素）的高斯滤波（</a:t>
            </a:r>
            <a:r>
              <a:rPr lang="en-US" altLang="zh-CN" i="1" u="sng" dirty="0">
                <a:solidFill>
                  <a:srgbClr val="FF0000"/>
                </a:solidFill>
                <a:sym typeface="+mn-ea"/>
              </a:rPr>
              <a:t>filter</a:t>
            </a:r>
            <a:r>
              <a:rPr lang="zh-CN" altLang="en-US" i="1" u="sng" dirty="0">
                <a:solidFill>
                  <a:srgbClr val="FF0000"/>
                </a:solidFill>
                <a:sym typeface="+mn-ea"/>
              </a:rPr>
              <a:t>）</a:t>
            </a:r>
            <a:r>
              <a:rPr lang="zh-CN" altLang="en-US" dirty="0">
                <a:solidFill>
                  <a:srgbClr val="FF0000"/>
                </a:solidFill>
                <a:sym typeface="+mn-ea"/>
              </a:rPr>
              <a:t>。</a:t>
            </a:r>
            <a:endParaRPr lang="zh-CN" altLang="en-US" dirty="0">
              <a:solidFill>
                <a:schemeClr val="tx1"/>
              </a:solidFill>
              <a:sym typeface="+mn-ea"/>
            </a:endParaRPr>
          </a:p>
          <a:p>
            <a:pPr>
              <a:lnSpc>
                <a:spcPct val="100000"/>
              </a:lnSpc>
            </a:pPr>
            <a:endParaRPr lang="zh-CN" altLang="en-US" dirty="0">
              <a:solidFill>
                <a:srgbClr val="FF0000"/>
              </a:solidFill>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p>
        </p:txBody>
      </p:sp>
      <p:sp>
        <p:nvSpPr>
          <p:cNvPr id="3" name="内容占位符 2"/>
          <p:cNvSpPr>
            <a:spLocks noGrp="1"/>
          </p:cNvSpPr>
          <p:nvPr>
            <p:ph idx="1"/>
          </p:nvPr>
        </p:nvSpPr>
        <p:spPr>
          <a:xfrm>
            <a:off x="838200" y="1825625"/>
            <a:ext cx="10705465" cy="4351655"/>
          </a:xfrm>
        </p:spPr>
        <p:txBody>
          <a:bodyPr>
            <a:normAutofit/>
          </a:bodyPr>
          <a:lstStyle/>
          <a:p>
            <a:r>
              <a:rPr lang="zh-CN" altLang="en-US" dirty="0">
                <a:solidFill>
                  <a:srgbClr val="FF0000"/>
                </a:solidFill>
                <a:sym typeface="+mn-ea"/>
              </a:rPr>
              <a:t>抖动采样（-jitter）</a:t>
            </a:r>
            <a:r>
              <a:rPr lang="zh-CN" altLang="en-US" dirty="0">
                <a:sym typeface="+mn-ea"/>
              </a:rPr>
              <a:t>：由皮克斯公司（</a:t>
            </a:r>
            <a:r>
              <a:rPr lang="en-US" altLang="zh-CN" dirty="0">
                <a:sym typeface="+mn-ea"/>
              </a:rPr>
              <a:t>Pixar</a:t>
            </a:r>
            <a:r>
              <a:rPr lang="zh-CN" altLang="en-US" dirty="0">
                <a:sym typeface="+mn-ea"/>
              </a:rPr>
              <a:t>）提出均匀采样</a:t>
            </a:r>
            <a:r>
              <a:rPr lang="en-US" altLang="zh-CN" dirty="0">
                <a:sym typeface="+mn-ea"/>
              </a:rPr>
              <a:t>+</a:t>
            </a:r>
            <a:r>
              <a:rPr lang="zh-CN" altLang="en-US" dirty="0">
                <a:sym typeface="+mn-ea"/>
              </a:rPr>
              <a:t>随机抖动，可以防止锯齿和摩尔纹（Moire）。</a:t>
            </a:r>
            <a:r>
              <a:rPr lang="zh-CN" altLang="en-US" dirty="0">
                <a:solidFill>
                  <a:srgbClr val="FF0000"/>
                </a:solidFill>
                <a:sym typeface="+mn-ea"/>
              </a:rPr>
              <a:t>距离为</a:t>
            </a:r>
            <a:r>
              <a:rPr lang="en-US" altLang="zh-CN" dirty="0">
                <a:solidFill>
                  <a:srgbClr val="FF0000"/>
                </a:solidFill>
                <a:sym typeface="+mn-ea"/>
              </a:rPr>
              <a:t>1</a:t>
            </a:r>
            <a:r>
              <a:rPr lang="zh-CN" altLang="en-US" dirty="0">
                <a:solidFill>
                  <a:srgbClr val="FF0000"/>
                </a:solidFill>
                <a:sym typeface="+mn-ea"/>
              </a:rPr>
              <a:t>时为充分采样。</a:t>
            </a:r>
          </a:p>
          <a:p>
            <a:r>
              <a:rPr lang="zh-CN" altLang="en-US" dirty="0">
                <a:solidFill>
                  <a:schemeClr val="tx1"/>
                </a:solidFill>
                <a:sym typeface="+mn-ea"/>
              </a:rPr>
              <a:t>我们在Render()的循环里面，重复</a:t>
            </a:r>
            <a:r>
              <a:rPr lang="en-US" altLang="zh-CN" i="1" u="sng" dirty="0">
                <a:solidFill>
                  <a:schemeClr val="tx1"/>
                </a:solidFill>
                <a:sym typeface="+mn-ea"/>
              </a:rPr>
              <a:t>16</a:t>
            </a:r>
            <a:r>
              <a:rPr lang="zh-CN" altLang="en-US" i="1" u="sng" dirty="0">
                <a:solidFill>
                  <a:schemeClr val="tx1"/>
                </a:solidFill>
                <a:sym typeface="+mn-ea"/>
              </a:rPr>
              <a:t>次</a:t>
            </a:r>
            <a:r>
              <a:rPr lang="zh-CN" altLang="en-US" dirty="0">
                <a:solidFill>
                  <a:schemeClr val="tx1"/>
                </a:solidFill>
                <a:sym typeface="+mn-ea"/>
              </a:rPr>
              <a:t>的generateRay和traceRay过程，每次都对ndcx, ndcy加上一定的偏差，偏差的值从</a:t>
            </a:r>
            <a:r>
              <a:rPr lang="en-US" altLang="zh-CN" dirty="0">
                <a:solidFill>
                  <a:schemeClr val="tx1"/>
                </a:solidFill>
                <a:sym typeface="+mn-ea"/>
              </a:rPr>
              <a:t>0</a:t>
            </a:r>
            <a:r>
              <a:rPr lang="zh-CN" altLang="en-US" dirty="0">
                <a:solidFill>
                  <a:schemeClr val="tx1"/>
                </a:solidFill>
                <a:sym typeface="+mn-ea"/>
              </a:rPr>
              <a:t>到</a:t>
            </a:r>
            <a:r>
              <a:rPr lang="en-US" altLang="zh-CN" dirty="0">
                <a:solidFill>
                  <a:schemeClr val="tx1"/>
                </a:solidFill>
                <a:sym typeface="+mn-ea"/>
              </a:rPr>
              <a:t>1</a:t>
            </a:r>
            <a:r>
              <a:rPr lang="zh-CN" altLang="zh-CN" dirty="0">
                <a:solidFill>
                  <a:schemeClr val="tx1"/>
                </a:solidFill>
                <a:sym typeface="+mn-ea"/>
              </a:rPr>
              <a:t>的</a:t>
            </a:r>
            <a:r>
              <a:rPr lang="zh-CN" altLang="zh-CN" b="1" dirty="0">
                <a:solidFill>
                  <a:srgbClr val="FF0000"/>
                </a:solidFill>
                <a:sym typeface="+mn-ea"/>
              </a:rPr>
              <a:t>像素宽度</a:t>
            </a:r>
            <a:r>
              <a:rPr lang="zh-CN" altLang="en-US" dirty="0">
                <a:solidFill>
                  <a:schemeClr val="tx1"/>
                </a:solidFill>
                <a:sym typeface="+mn-ea"/>
              </a:rPr>
              <a:t>随机选取。（注意代码中</a:t>
            </a:r>
            <a:r>
              <a:rPr lang="en-US" altLang="zh-CN" dirty="0" err="1">
                <a:solidFill>
                  <a:schemeClr val="tx1"/>
                </a:solidFill>
                <a:sym typeface="+mn-ea"/>
              </a:rPr>
              <a:t>ndcx</a:t>
            </a:r>
            <a:r>
              <a:rPr lang="zh-CN" altLang="en-US" dirty="0">
                <a:solidFill>
                  <a:schemeClr val="tx1"/>
                </a:solidFill>
                <a:sym typeface="+mn-ea"/>
              </a:rPr>
              <a:t>和</a:t>
            </a:r>
            <a:r>
              <a:rPr lang="en-US" altLang="zh-CN" dirty="0" err="1">
                <a:solidFill>
                  <a:schemeClr val="tx1"/>
                </a:solidFill>
                <a:sym typeface="+mn-ea"/>
              </a:rPr>
              <a:t>ndcy</a:t>
            </a:r>
            <a:r>
              <a:rPr lang="zh-CN" altLang="en-US" dirty="0">
                <a:solidFill>
                  <a:schemeClr val="tx1"/>
                </a:solidFill>
                <a:sym typeface="+mn-ea"/>
              </a:rPr>
              <a:t>已经除以整图宽高）</a:t>
            </a:r>
          </a:p>
        </p:txBody>
      </p:sp>
      <p:grpSp>
        <p:nvGrpSpPr>
          <p:cNvPr id="5" name="组合 4"/>
          <p:cNvGrpSpPr/>
          <p:nvPr/>
        </p:nvGrpSpPr>
        <p:grpSpPr>
          <a:xfrm>
            <a:off x="1499235" y="3898900"/>
            <a:ext cx="3812540" cy="2922905"/>
            <a:chOff x="1572" y="4625"/>
            <a:chExt cx="6004" cy="4603"/>
          </a:xfrm>
        </p:grpSpPr>
        <p:pic>
          <p:nvPicPr>
            <p:cNvPr id="4" name="图片 3"/>
            <p:cNvPicPr>
              <a:picLocks noChangeAspect="1"/>
            </p:cNvPicPr>
            <p:nvPr>
              <p:custDataLst>
                <p:tags r:id="rId2"/>
              </p:custDataLst>
            </p:nvPr>
          </p:nvPicPr>
          <p:blipFill>
            <a:blip r:embed="rId5"/>
            <a:stretch>
              <a:fillRect/>
            </a:stretch>
          </p:blipFill>
          <p:spPr>
            <a:xfrm>
              <a:off x="1906" y="5224"/>
              <a:ext cx="5670" cy="4005"/>
            </a:xfrm>
            <a:prstGeom prst="rect">
              <a:avLst/>
            </a:prstGeom>
          </p:spPr>
        </p:pic>
        <p:cxnSp>
          <p:nvCxnSpPr>
            <p:cNvPr id="6" name="直接连接符 5"/>
            <p:cNvCxnSpPr/>
            <p:nvPr/>
          </p:nvCxnSpPr>
          <p:spPr>
            <a:xfrm>
              <a:off x="2515" y="5207"/>
              <a:ext cx="1604"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019" y="4625"/>
              <a:ext cx="582" cy="580"/>
            </a:xfrm>
            <a:prstGeom prst="rect">
              <a:avLst/>
            </a:prstGeom>
            <a:noFill/>
          </p:spPr>
          <p:txBody>
            <a:bodyPr wrap="square" rtlCol="0">
              <a:spAutoFit/>
              <a:scene3d>
                <a:camera prst="orthographicFront"/>
                <a:lightRig rig="threePt" dir="t"/>
              </a:scene3d>
            </a:bodyPr>
            <a:lstStyle/>
            <a:p>
              <a:r>
                <a:rPr lang="en-US" altLang="zh-CN">
                  <a:solidFill>
                    <a:schemeClr val="accent1"/>
                  </a:solidFill>
                  <a:effectLst>
                    <a:outerShdw blurRad="38100" dist="25400" dir="5400000" algn="ctr" rotWithShape="0">
                      <a:srgbClr val="6E747A">
                        <a:alpha val="43000"/>
                      </a:srgbClr>
                    </a:outerShdw>
                  </a:effectLst>
                </a:rPr>
                <a:t>1</a:t>
              </a:r>
            </a:p>
          </p:txBody>
        </p:sp>
        <p:sp>
          <p:nvSpPr>
            <p:cNvPr id="9" name="文本框 8"/>
            <p:cNvSpPr txBox="1"/>
            <p:nvPr/>
          </p:nvSpPr>
          <p:spPr>
            <a:xfrm>
              <a:off x="1572" y="5899"/>
              <a:ext cx="1698" cy="580"/>
            </a:xfrm>
            <a:prstGeom prst="rect">
              <a:avLst/>
            </a:prstGeom>
            <a:noFill/>
          </p:spPr>
          <p:txBody>
            <a:bodyPr wrap="square" rtlCol="0">
              <a:spAutoFit/>
              <a:scene3d>
                <a:camera prst="orthographicFront"/>
                <a:lightRig rig="threePt" dir="t"/>
              </a:scene3d>
            </a:bodyPr>
            <a:lstStyle/>
            <a:p>
              <a:r>
                <a:rPr lang="en-US" altLang="zh-CN">
                  <a:solidFill>
                    <a:srgbClr val="FF0000"/>
                  </a:solidFill>
                  <a:effectLst>
                    <a:outerShdw blurRad="38100" dist="25400" dir="5400000" algn="ctr" rotWithShape="0">
                      <a:srgbClr val="6E747A">
                        <a:alpha val="43000"/>
                      </a:srgbClr>
                    </a:outerShdw>
                  </a:effectLst>
                </a:rPr>
                <a:t>rand(-1,1)</a:t>
              </a:r>
            </a:p>
          </p:txBody>
        </p:sp>
      </p:grpSp>
      <p:pic>
        <p:nvPicPr>
          <p:cNvPr id="11" name="图片 10"/>
          <p:cNvPicPr>
            <a:picLocks noChangeAspect="1"/>
          </p:cNvPicPr>
          <p:nvPr>
            <p:custDataLst>
              <p:tags r:id="rId1"/>
            </p:custDataLst>
          </p:nvPr>
        </p:nvPicPr>
        <p:blipFill>
          <a:blip r:embed="rId6"/>
          <a:stretch>
            <a:fillRect/>
          </a:stretch>
        </p:blipFill>
        <p:spPr>
          <a:xfrm>
            <a:off x="6682740" y="3898900"/>
            <a:ext cx="4442460" cy="28441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endParaRPr lang="zh-CN" altLang="en-US"/>
          </a:p>
        </p:txBody>
      </p:sp>
      <p:sp>
        <p:nvSpPr>
          <p:cNvPr id="3" name="内容占位符 2"/>
          <p:cNvSpPr>
            <a:spLocks noGrp="1"/>
          </p:cNvSpPr>
          <p:nvPr>
            <p:ph idx="1"/>
          </p:nvPr>
        </p:nvSpPr>
        <p:spPr>
          <a:xfrm>
            <a:off x="838200" y="1825625"/>
            <a:ext cx="5257800" cy="4232275"/>
          </a:xfrm>
        </p:spPr>
        <p:txBody>
          <a:bodyPr>
            <a:noAutofit/>
          </a:bodyPr>
          <a:lstStyle/>
          <a:p>
            <a:pPr>
              <a:lnSpc>
                <a:spcPct val="100000"/>
              </a:lnSpc>
            </a:pPr>
            <a:r>
              <a:rPr lang="zh-CN" altLang="en-US" sz="1800">
                <a:solidFill>
                  <a:srgbClr val="FF0000"/>
                </a:solidFill>
              </a:rPr>
              <a:t>高斯滤波（</a:t>
            </a:r>
            <a:r>
              <a:rPr lang="en-US" altLang="zh-CN" sz="1800">
                <a:solidFill>
                  <a:srgbClr val="FF0000"/>
                </a:solidFill>
              </a:rPr>
              <a:t>-filter</a:t>
            </a:r>
            <a:r>
              <a:rPr lang="zh-CN" altLang="en-US" sz="1800">
                <a:solidFill>
                  <a:srgbClr val="FF0000"/>
                </a:solidFill>
              </a:rPr>
              <a:t>）</a:t>
            </a:r>
            <a:r>
              <a:rPr lang="zh-CN" altLang="en-US" sz="1800"/>
              <a:t>：</a:t>
            </a:r>
          </a:p>
          <a:p>
            <a:pPr>
              <a:lnSpc>
                <a:spcPct val="100000"/>
              </a:lnSpc>
            </a:pPr>
            <a:r>
              <a:rPr lang="zh-CN" altLang="en-US" sz="1800">
                <a:solidFill>
                  <a:srgbClr val="FF0000"/>
                </a:solidFill>
              </a:rPr>
              <a:t>我们在</a:t>
            </a:r>
            <a:r>
              <a:rPr lang="zh-CN" altLang="en-US" sz="1800">
                <a:solidFill>
                  <a:srgbClr val="FF0000"/>
                </a:solidFill>
                <a:sym typeface="+mn-ea"/>
              </a:rPr>
              <a:t>Render()循环中先进行倍数是k的</a:t>
            </a:r>
            <a:r>
              <a:rPr lang="zh-CN" altLang="en-US" sz="1800">
                <a:solidFill>
                  <a:srgbClr val="FF0000"/>
                </a:solidFill>
              </a:rPr>
              <a:t>上采样（在高分辨率</a:t>
            </a:r>
            <a:r>
              <a:rPr lang="en-US" altLang="zh-CN" sz="1800">
                <a:solidFill>
                  <a:srgbClr val="FF0000"/>
                </a:solidFill>
              </a:rPr>
              <a:t>h</a:t>
            </a:r>
            <a:r>
              <a:rPr lang="zh-CN" altLang="en-US" sz="1800">
                <a:solidFill>
                  <a:srgbClr val="FF0000"/>
                </a:solidFill>
                <a:sym typeface="+mn-ea"/>
              </a:rPr>
              <a:t>×k,</a:t>
            </a:r>
            <a:r>
              <a:rPr lang="en-US" altLang="zh-CN" sz="1800">
                <a:solidFill>
                  <a:srgbClr val="FF0000"/>
                </a:solidFill>
                <a:sym typeface="+mn-ea"/>
              </a:rPr>
              <a:t>w</a:t>
            </a:r>
            <a:r>
              <a:rPr lang="zh-CN" altLang="en-US" sz="1800">
                <a:solidFill>
                  <a:srgbClr val="FF0000"/>
                </a:solidFill>
                <a:sym typeface="+mn-ea"/>
              </a:rPr>
              <a:t>×k</a:t>
            </a:r>
            <a:r>
              <a:rPr lang="zh-CN" altLang="en-US" sz="1800">
                <a:solidFill>
                  <a:srgbClr val="FF0000"/>
                </a:solidFill>
              </a:rPr>
              <a:t>下渲染，</a:t>
            </a:r>
            <a:r>
              <a:rPr lang="en-US" altLang="zh-CN" sz="1800">
                <a:solidFill>
                  <a:srgbClr val="FF0000"/>
                </a:solidFill>
              </a:rPr>
              <a:t>k=3</a:t>
            </a:r>
            <a:r>
              <a:rPr lang="zh-CN" altLang="en-US" sz="1800">
                <a:solidFill>
                  <a:srgbClr val="FF0000"/>
                </a:solidFill>
              </a:rPr>
              <a:t>），然后对于生成的</a:t>
            </a:r>
            <a:r>
              <a:rPr lang="en-US" altLang="zh-CN" sz="1800">
                <a:solidFill>
                  <a:srgbClr val="FF0000"/>
                </a:solidFill>
              </a:rPr>
              <a:t>Image</a:t>
            </a:r>
            <a:r>
              <a:rPr lang="zh-CN" altLang="en-US" sz="1800">
                <a:solidFill>
                  <a:srgbClr val="FF0000"/>
                </a:solidFill>
              </a:rPr>
              <a:t>类型，我们再下采样（得到低分辨率</a:t>
            </a:r>
            <a:r>
              <a:rPr lang="zh-CN" altLang="en-US" sz="1800">
                <a:solidFill>
                  <a:srgbClr val="FF0000"/>
                </a:solidFill>
                <a:sym typeface="+mn-ea"/>
              </a:rPr>
              <a:t>(m,n)</a:t>
            </a:r>
            <a:r>
              <a:rPr lang="zh-CN" altLang="en-US" sz="1800">
                <a:solidFill>
                  <a:srgbClr val="FF0000"/>
                </a:solidFill>
              </a:rPr>
              <a:t>图像）。</a:t>
            </a:r>
          </a:p>
          <a:p>
            <a:pPr>
              <a:lnSpc>
                <a:spcPct val="100000"/>
              </a:lnSpc>
            </a:pPr>
            <a:r>
              <a:rPr lang="zh-CN" altLang="en-US" sz="1800">
                <a:solidFill>
                  <a:srgbClr val="FF0000"/>
                </a:solidFill>
              </a:rPr>
              <a:t>循环之后，下采样的时候需要一个低通（低频率通过）滤波器，从</a:t>
            </a:r>
            <a:r>
              <a:rPr lang="en-US" altLang="zh-CN" sz="1800">
                <a:solidFill>
                  <a:srgbClr val="FF0000"/>
                </a:solidFill>
              </a:rPr>
              <a:t>k</a:t>
            </a:r>
            <a:r>
              <a:rPr lang="zh-CN" altLang="en-US" sz="1800">
                <a:solidFill>
                  <a:srgbClr val="FF0000"/>
                </a:solidFill>
              </a:rPr>
              <a:t>×</a:t>
            </a:r>
            <a:r>
              <a:rPr lang="en-US" altLang="zh-CN" sz="1800">
                <a:solidFill>
                  <a:srgbClr val="FF0000"/>
                </a:solidFill>
              </a:rPr>
              <a:t>k</a:t>
            </a:r>
            <a:r>
              <a:rPr lang="zh-CN" altLang="en-US" sz="1800">
                <a:solidFill>
                  <a:srgbClr val="FF0000"/>
                </a:solidFill>
              </a:rPr>
              <a:t>个像素变成</a:t>
            </a:r>
            <a:r>
              <a:rPr lang="en-US" altLang="zh-CN" sz="1800">
                <a:solidFill>
                  <a:srgbClr val="FF0000"/>
                </a:solidFill>
              </a:rPr>
              <a:t>1</a:t>
            </a:r>
            <a:r>
              <a:rPr lang="zh-CN" altLang="en-US" sz="1800">
                <a:solidFill>
                  <a:srgbClr val="FF0000"/>
                </a:solidFill>
              </a:rPr>
              <a:t>个像素。</a:t>
            </a:r>
          </a:p>
          <a:p>
            <a:pPr>
              <a:lnSpc>
                <a:spcPct val="100000"/>
              </a:lnSpc>
            </a:pPr>
            <a:r>
              <a:rPr lang="zh-CN" altLang="en-US" sz="1800"/>
              <a:t>其中一个比较好的滤波器就是高斯滤波器，它的做法是将</a:t>
            </a:r>
            <a:r>
              <a:rPr lang="en-US" altLang="zh-CN" sz="1800">
                <a:sym typeface="+mn-ea"/>
              </a:rPr>
              <a:t>k</a:t>
            </a:r>
            <a:r>
              <a:rPr lang="zh-CN" altLang="en-US" sz="1800">
                <a:sym typeface="+mn-ea"/>
              </a:rPr>
              <a:t>×</a:t>
            </a:r>
            <a:r>
              <a:rPr lang="en-US" altLang="zh-CN" sz="1800">
                <a:sym typeface="+mn-ea"/>
              </a:rPr>
              <a:t>k</a:t>
            </a:r>
            <a:r>
              <a:rPr lang="zh-CN" altLang="en-US" sz="1800">
                <a:sym typeface="+mn-ea"/>
              </a:rPr>
              <a:t>个像素加权求和作为中间像素的值。其中权重通过高斯分布（二维正态分布）来计算得到。</a:t>
            </a:r>
          </a:p>
          <a:p>
            <a:pPr>
              <a:lnSpc>
                <a:spcPct val="100000"/>
              </a:lnSpc>
            </a:pPr>
            <a:r>
              <a:rPr lang="zh-CN" altLang="en-US" sz="1800">
                <a:solidFill>
                  <a:schemeClr val="tx1"/>
                </a:solidFill>
                <a:sym typeface="+mn-ea"/>
              </a:rPr>
              <a:t>请注意我们这里是离散的像素而且只考虑相邻的像素，所以可以简化为右边的矩阵。</a:t>
            </a:r>
            <a:endParaRPr lang="zh-CN" altLang="en-US" sz="1800">
              <a:solidFill>
                <a:schemeClr val="tx1"/>
              </a:solidFill>
            </a:endParaRPr>
          </a:p>
          <a:p>
            <a:endParaRPr lang="zh-CN" altLang="en-US" sz="1800">
              <a:solidFill>
                <a:schemeClr val="tx1"/>
              </a:solidFill>
            </a:endParaRPr>
          </a:p>
        </p:txBody>
      </p:sp>
      <p:pic>
        <p:nvPicPr>
          <p:cNvPr id="4" name="图片 3"/>
          <p:cNvPicPr>
            <a:picLocks noChangeAspect="1"/>
          </p:cNvPicPr>
          <p:nvPr>
            <p:custDataLst>
              <p:tags r:id="rId1"/>
            </p:custDataLst>
          </p:nvPr>
        </p:nvPicPr>
        <p:blipFill>
          <a:blip r:embed="rId6"/>
          <a:srcRect l="47746"/>
          <a:stretch>
            <a:fillRect/>
          </a:stretch>
        </p:blipFill>
        <p:spPr>
          <a:xfrm>
            <a:off x="6235700" y="3866515"/>
            <a:ext cx="2613025" cy="1905000"/>
          </a:xfrm>
          <a:prstGeom prst="rect">
            <a:avLst/>
          </a:prstGeom>
        </p:spPr>
      </p:pic>
      <p:pic>
        <p:nvPicPr>
          <p:cNvPr id="5" name="图片 4"/>
          <p:cNvPicPr>
            <a:picLocks noChangeAspect="1"/>
          </p:cNvPicPr>
          <p:nvPr>
            <p:custDataLst>
              <p:tags r:id="rId2"/>
            </p:custDataLst>
          </p:nvPr>
        </p:nvPicPr>
        <p:blipFill>
          <a:blip r:embed="rId7"/>
          <a:stretch>
            <a:fillRect/>
          </a:stretch>
        </p:blipFill>
        <p:spPr>
          <a:xfrm>
            <a:off x="6499225" y="1768475"/>
            <a:ext cx="4555490" cy="1840230"/>
          </a:xfrm>
          <a:prstGeom prst="rect">
            <a:avLst/>
          </a:prstGeom>
        </p:spPr>
      </p:pic>
      <p:sp>
        <p:nvSpPr>
          <p:cNvPr id="6" name="文本框 5"/>
          <p:cNvSpPr txBox="1"/>
          <p:nvPr/>
        </p:nvSpPr>
        <p:spPr>
          <a:xfrm>
            <a:off x="6831965" y="1601470"/>
            <a:ext cx="1297940" cy="368300"/>
          </a:xfrm>
          <a:prstGeom prst="rect">
            <a:avLst/>
          </a:prstGeom>
          <a:noFill/>
        </p:spPr>
        <p:txBody>
          <a:bodyPr wrap="square" rtlCol="0">
            <a:spAutoFit/>
            <a:scene3d>
              <a:camera prst="orthographicFront"/>
              <a:lightRig rig="threePt" dir="t"/>
            </a:scene3d>
          </a:bodyPr>
          <a:lstStyle/>
          <a:p>
            <a:r>
              <a:rPr lang="en-US" altLang="zh-CN">
                <a:ln w="22225">
                  <a:solidFill>
                    <a:schemeClr val="accent2"/>
                  </a:solidFill>
                  <a:prstDash val="solid"/>
                </a:ln>
                <a:solidFill>
                  <a:schemeClr val="accent2">
                    <a:lumMod val="40000"/>
                    <a:lumOff val="60000"/>
                  </a:schemeClr>
                </a:solidFill>
                <a:effectLst/>
              </a:rPr>
              <a:t>(h</a:t>
            </a:r>
            <a:r>
              <a:rPr lang="zh-CN" altLang="en-US">
                <a:ln w="22225">
                  <a:solidFill>
                    <a:schemeClr val="accent2"/>
                  </a:solidFill>
                  <a:prstDash val="solid"/>
                </a:ln>
                <a:solidFill>
                  <a:schemeClr val="accent2">
                    <a:lumMod val="40000"/>
                    <a:lumOff val="60000"/>
                  </a:schemeClr>
                </a:solidFill>
                <a:effectLst/>
              </a:rPr>
              <a:t>×</a:t>
            </a:r>
            <a:r>
              <a:rPr lang="en-US" altLang="zh-CN">
                <a:ln w="22225">
                  <a:solidFill>
                    <a:schemeClr val="accent2"/>
                  </a:solidFill>
                  <a:prstDash val="solid"/>
                </a:ln>
                <a:solidFill>
                  <a:schemeClr val="accent2">
                    <a:lumMod val="40000"/>
                    <a:lumOff val="60000"/>
                  </a:schemeClr>
                </a:solidFill>
                <a:effectLst/>
              </a:rPr>
              <a:t>k,w</a:t>
            </a:r>
            <a:r>
              <a:rPr lang="zh-CN" altLang="en-US">
                <a:ln w="22225">
                  <a:solidFill>
                    <a:schemeClr val="accent2"/>
                  </a:solidFill>
                  <a:prstDash val="solid"/>
                </a:ln>
                <a:solidFill>
                  <a:schemeClr val="accent2">
                    <a:lumMod val="40000"/>
                    <a:lumOff val="60000"/>
                  </a:schemeClr>
                </a:solidFill>
                <a:effectLst/>
              </a:rPr>
              <a:t>×</a:t>
            </a:r>
            <a:r>
              <a:rPr lang="en-US" altLang="zh-CN">
                <a:ln w="22225">
                  <a:solidFill>
                    <a:schemeClr val="accent2"/>
                  </a:solidFill>
                  <a:prstDash val="solid"/>
                </a:ln>
                <a:solidFill>
                  <a:schemeClr val="accent2">
                    <a:lumMod val="40000"/>
                    <a:lumOff val="60000"/>
                  </a:schemeClr>
                </a:solidFill>
                <a:effectLst/>
              </a:rPr>
              <a:t>k)</a:t>
            </a:r>
          </a:p>
        </p:txBody>
      </p:sp>
      <p:sp>
        <p:nvSpPr>
          <p:cNvPr id="7" name="文本框 6"/>
          <p:cNvSpPr txBox="1"/>
          <p:nvPr/>
        </p:nvSpPr>
        <p:spPr>
          <a:xfrm>
            <a:off x="9886950" y="1596390"/>
            <a:ext cx="779780" cy="368300"/>
          </a:xfrm>
          <a:prstGeom prst="rect">
            <a:avLst/>
          </a:prstGeom>
          <a:noFill/>
        </p:spPr>
        <p:txBody>
          <a:bodyPr wrap="square" rtlCol="0">
            <a:spAutoFit/>
            <a:scene3d>
              <a:camera prst="orthographicFront"/>
              <a:lightRig rig="threePt" dir="t"/>
            </a:scene3d>
          </a:bodyPr>
          <a:lstStyle/>
          <a:p>
            <a:r>
              <a:rPr lang="en-US" altLang="zh-CN">
                <a:ln w="22225">
                  <a:solidFill>
                    <a:schemeClr val="accent2"/>
                  </a:solidFill>
                  <a:prstDash val="solid"/>
                </a:ln>
                <a:solidFill>
                  <a:schemeClr val="accent2">
                    <a:lumMod val="40000"/>
                    <a:lumOff val="60000"/>
                  </a:schemeClr>
                </a:solidFill>
                <a:effectLst/>
              </a:rPr>
              <a:t>(h,w)</a:t>
            </a:r>
          </a:p>
        </p:txBody>
      </p:sp>
      <p:sp>
        <p:nvSpPr>
          <p:cNvPr id="8" name="右箭头 7"/>
          <p:cNvSpPr/>
          <p:nvPr/>
        </p:nvSpPr>
        <p:spPr>
          <a:xfrm>
            <a:off x="8517255" y="2599055"/>
            <a:ext cx="518795" cy="66929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9" name="图片 8"/>
          <p:cNvPicPr>
            <a:picLocks noChangeAspect="1"/>
          </p:cNvPicPr>
          <p:nvPr>
            <p:custDataLst>
              <p:tags r:id="rId3"/>
            </p:custDataLst>
          </p:nvPr>
        </p:nvPicPr>
        <p:blipFill>
          <a:blip r:embed="rId8"/>
          <a:stretch>
            <a:fillRect/>
          </a:stretch>
        </p:blipFill>
        <p:spPr>
          <a:xfrm>
            <a:off x="6235700" y="5771515"/>
            <a:ext cx="2722245" cy="452755"/>
          </a:xfrm>
          <a:prstGeom prst="rect">
            <a:avLst/>
          </a:prstGeom>
        </p:spPr>
      </p:pic>
      <p:pic>
        <p:nvPicPr>
          <p:cNvPr id="10" name="图片 9"/>
          <p:cNvPicPr>
            <a:picLocks noChangeAspect="1"/>
          </p:cNvPicPr>
          <p:nvPr>
            <p:custDataLst>
              <p:tags r:id="rId4"/>
            </p:custDataLst>
          </p:nvPr>
        </p:nvPicPr>
        <p:blipFill>
          <a:blip r:embed="rId9"/>
          <a:stretch>
            <a:fillRect/>
          </a:stretch>
        </p:blipFill>
        <p:spPr>
          <a:xfrm>
            <a:off x="8811895" y="4077970"/>
            <a:ext cx="2703830" cy="22167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提示</a:t>
            </a:r>
          </a:p>
        </p:txBody>
      </p:sp>
      <p:sp>
        <p:nvSpPr>
          <p:cNvPr id="3" name="内容占位符 2"/>
          <p:cNvSpPr>
            <a:spLocks noGrp="1"/>
          </p:cNvSpPr>
          <p:nvPr>
            <p:ph idx="1"/>
          </p:nvPr>
        </p:nvSpPr>
        <p:spPr>
          <a:xfrm>
            <a:off x="838200" y="1825625"/>
            <a:ext cx="10514965" cy="4351655"/>
          </a:xfrm>
        </p:spPr>
        <p:txBody>
          <a:bodyPr>
            <a:normAutofit fontScale="97500" lnSpcReduction="10000"/>
          </a:bodyPr>
          <a:lstStyle/>
          <a:p>
            <a:pPr>
              <a:lnSpc>
                <a:spcPct val="100000"/>
              </a:lnSpc>
            </a:pPr>
            <a:r>
              <a:rPr b="1">
                <a:solidFill>
                  <a:srgbClr val="FF0000"/>
                </a:solidFill>
              </a:rPr>
              <a:t>增量</a:t>
            </a:r>
            <a:r>
              <a:rPr lang="zh-CN" b="1">
                <a:solidFill>
                  <a:srgbClr val="FF0000"/>
                </a:solidFill>
              </a:rPr>
              <a:t>实现和</a:t>
            </a:r>
            <a:r>
              <a:rPr b="1">
                <a:solidFill>
                  <a:srgbClr val="FF0000"/>
                </a:solidFill>
              </a:rPr>
              <a:t>调试。一次</a:t>
            </a:r>
            <a:r>
              <a:rPr lang="zh-CN" b="1">
                <a:solidFill>
                  <a:srgbClr val="FF0000"/>
                </a:solidFill>
              </a:rPr>
              <a:t>只实现</a:t>
            </a:r>
            <a:r>
              <a:rPr b="1">
                <a:solidFill>
                  <a:srgbClr val="FF0000"/>
                </a:solidFill>
              </a:rPr>
              <a:t>一个</a:t>
            </a:r>
            <a:r>
              <a:rPr lang="zh-CN" b="1">
                <a:solidFill>
                  <a:srgbClr val="FF0000"/>
                </a:solidFill>
              </a:rPr>
              <a:t>步骤</a:t>
            </a:r>
            <a:r>
              <a:rPr b="1">
                <a:solidFill>
                  <a:srgbClr val="FF0000"/>
                </a:solidFill>
              </a:rPr>
              <a:t>。一次</a:t>
            </a:r>
            <a:r>
              <a:rPr lang="zh-CN" b="1">
                <a:solidFill>
                  <a:srgbClr val="FF0000"/>
                </a:solidFill>
              </a:rPr>
              <a:t>只</a:t>
            </a:r>
            <a:r>
              <a:rPr b="1">
                <a:solidFill>
                  <a:srgbClr val="FF0000"/>
                </a:solidFill>
              </a:rPr>
              <a:t>测试一个</a:t>
            </a:r>
            <a:r>
              <a:rPr lang="zh-CN" b="1">
                <a:solidFill>
                  <a:srgbClr val="FF0000"/>
                </a:solidFill>
              </a:rPr>
              <a:t>步骤</a:t>
            </a:r>
            <a:r>
              <a:rPr b="1">
                <a:solidFill>
                  <a:srgbClr val="FF0000"/>
                </a:solidFill>
              </a:rPr>
              <a:t>。</a:t>
            </a:r>
          </a:p>
          <a:p>
            <a:pPr>
              <a:lnSpc>
                <a:spcPct val="100000"/>
              </a:lnSpc>
            </a:pPr>
            <a:r>
              <a:rPr>
                <a:solidFill>
                  <a:schemeClr val="tx1"/>
                </a:solidFill>
              </a:rPr>
              <a:t>使用较小的图像大小来实现更快的调试。200×200像素通常足以意识到可能出了问题。使用更高的分辨率（例如800x800)来调试几何图形和阴影的细节。</a:t>
            </a:r>
          </a:p>
          <a:p>
            <a:pPr>
              <a:lnSpc>
                <a:spcPct val="100000"/>
              </a:lnSpc>
            </a:pPr>
            <a:r>
              <a:rPr>
                <a:solidFill>
                  <a:schemeClr val="tx1"/>
                </a:solidFill>
              </a:rPr>
              <a:t>不要犹豫地打印尽可能多的调试信息，如光线的方向向量、命中值等。</a:t>
            </a:r>
          </a:p>
          <a:p>
            <a:pPr>
              <a:lnSpc>
                <a:spcPct val="100000"/>
              </a:lnSpc>
            </a:pPr>
            <a:r>
              <a:rPr>
                <a:solidFill>
                  <a:schemeClr val="tx1"/>
                </a:solidFill>
              </a:rPr>
              <a:t>使用</a:t>
            </a:r>
            <a:r>
              <a:rPr lang="en-US">
                <a:solidFill>
                  <a:schemeClr val="tx1"/>
                </a:solidFill>
              </a:rPr>
              <a:t>assert()</a:t>
            </a:r>
            <a:r>
              <a:rPr>
                <a:solidFill>
                  <a:schemeClr val="tx1"/>
                </a:solidFill>
              </a:rPr>
              <a:t>来检查函数前提条件、数组索引等。</a:t>
            </a:r>
          </a:p>
          <a:p>
            <a:pPr>
              <a:lnSpc>
                <a:spcPct val="100000"/>
              </a:lnSpc>
            </a:pPr>
            <a:r>
              <a:rPr>
                <a:solidFill>
                  <a:schemeClr val="tx1"/>
                </a:solidFill>
              </a:rPr>
              <a:t>为了避免</a:t>
            </a:r>
            <a:r>
              <a:rPr lang="zh-CN">
                <a:solidFill>
                  <a:schemeClr val="tx1"/>
                </a:solidFill>
              </a:rPr>
              <a:t>内存访问出错（</a:t>
            </a:r>
            <a:r>
              <a:rPr lang="en-US" altLang="zh-CN">
                <a:solidFill>
                  <a:schemeClr val="tx1"/>
                </a:solidFill>
              </a:rPr>
              <a:t>Segmentation Fault</a:t>
            </a:r>
            <a:r>
              <a:rPr lang="zh-CN">
                <a:solidFill>
                  <a:schemeClr val="tx1"/>
                </a:solidFill>
              </a:rPr>
              <a:t>）</a:t>
            </a:r>
            <a:r>
              <a:rPr>
                <a:solidFill>
                  <a:schemeClr val="tx1"/>
                </a:solidFill>
              </a:rPr>
              <a:t>，请确保不要尝试访问在图像宽度和高度之外的像素样本。边界上的像素将有一个裁剪过的支撑区域</a:t>
            </a:r>
            <a:r>
              <a:rPr lang="zh-CN">
                <a:solidFill>
                  <a:schemeClr val="tx1"/>
                </a:solidFill>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Project 2 </a:t>
            </a:r>
            <a:r>
              <a:rPr lang="zh-CN" altLang="en-US" dirty="0">
                <a:sym typeface="+mn-ea"/>
              </a:rPr>
              <a:t>参考资料</a:t>
            </a:r>
            <a:endParaRPr lang="zh-CN" altLang="en-US"/>
          </a:p>
        </p:txBody>
      </p:sp>
      <p:sp>
        <p:nvSpPr>
          <p:cNvPr id="3" name="内容占位符 2"/>
          <p:cNvSpPr>
            <a:spLocks noGrp="1"/>
          </p:cNvSpPr>
          <p:nvPr>
            <p:ph idx="1"/>
          </p:nvPr>
        </p:nvSpPr>
        <p:spPr/>
        <p:txBody>
          <a:bodyPr>
            <a:normAutofit fontScale="90000" lnSpcReduction="10000"/>
          </a:bodyPr>
          <a:lstStyle/>
          <a:p>
            <a:pPr marL="0" indent="0">
              <a:buNone/>
            </a:pPr>
            <a:r>
              <a:rPr lang="zh-CN" altLang="en-US" sz="2400" b="1">
                <a:solidFill>
                  <a:srgbClr val="FF0000"/>
                </a:solidFill>
              </a:rPr>
              <a:t>请</a:t>
            </a:r>
            <a:r>
              <a:rPr lang="zh-CN" altLang="en-US" sz="2400" b="1">
                <a:solidFill>
                  <a:srgbClr val="FF0000"/>
                </a:solidFill>
                <a:sym typeface="+mn-ea"/>
              </a:rPr>
              <a:t>务必</a:t>
            </a:r>
            <a:r>
              <a:rPr lang="zh-CN" altLang="en-US" sz="2400" b="1">
                <a:solidFill>
                  <a:srgbClr val="FF0000"/>
                </a:solidFill>
              </a:rPr>
              <a:t>仔细阅读初始代码，特别是</a:t>
            </a:r>
            <a:r>
              <a:rPr lang="en-US" altLang="zh-CN" sz="2400" b="1">
                <a:solidFill>
                  <a:srgbClr val="FF0000"/>
                </a:solidFill>
              </a:rPr>
              <a:t>src</a:t>
            </a:r>
            <a:r>
              <a:rPr lang="zh-CN" altLang="en-US" sz="2400" b="1">
                <a:solidFill>
                  <a:srgbClr val="FF0000"/>
                </a:solidFill>
              </a:rPr>
              <a:t>和</a:t>
            </a:r>
            <a:r>
              <a:rPr lang="en-US" altLang="zh-CN" sz="2400" b="1">
                <a:solidFill>
                  <a:srgbClr val="FF0000"/>
                </a:solidFill>
              </a:rPr>
              <a:t>vecmath</a:t>
            </a:r>
            <a:r>
              <a:rPr lang="zh-CN" altLang="en-US" sz="2400" b="1">
                <a:solidFill>
                  <a:srgbClr val="FF0000"/>
                </a:solidFill>
              </a:rPr>
              <a:t>，代码是最好的参考资料！</a:t>
            </a:r>
          </a:p>
          <a:p>
            <a:pPr marL="0" indent="0">
              <a:buNone/>
            </a:pPr>
            <a:r>
              <a:rPr lang="zh-CN" altLang="en-US" sz="2400" b="1">
                <a:solidFill>
                  <a:srgbClr val="FF0000"/>
                </a:solidFill>
              </a:rPr>
              <a:t>如果不清楚应该实现成什么样，请运行</a:t>
            </a:r>
            <a:r>
              <a:rPr lang="en-US" altLang="zh-CN" sz="2400" b="1">
                <a:solidFill>
                  <a:srgbClr val="FF0000"/>
                </a:solidFill>
              </a:rPr>
              <a:t>sample_solution</a:t>
            </a:r>
            <a:r>
              <a:rPr lang="zh-CN" altLang="en-US" sz="2400" b="1">
                <a:solidFill>
                  <a:srgbClr val="FF0000"/>
                </a:solidFill>
              </a:rPr>
              <a:t>下面的程序！</a:t>
            </a:r>
          </a:p>
          <a:p>
            <a:pPr marL="0" indent="0">
              <a:buNone/>
            </a:pPr>
            <a:r>
              <a:rPr lang="zh-CN" altLang="en-US" sz="1200"/>
              <a:t>参考网站</a:t>
            </a:r>
          </a:p>
          <a:p>
            <a:r>
              <a:rPr lang="en-US" altLang="zh-CN" sz="1200"/>
              <a:t>C++</a:t>
            </a:r>
            <a:r>
              <a:rPr lang="zh-CN" altLang="en-US" sz="1200"/>
              <a:t>教程：https://www.cprogramming.com/tutorial/</a:t>
            </a:r>
          </a:p>
          <a:p>
            <a:r>
              <a:rPr lang="en-US" altLang="zh-CN" sz="1200"/>
              <a:t>OpenGL</a:t>
            </a:r>
            <a:r>
              <a:rPr lang="zh-CN" altLang="en-US" sz="1200"/>
              <a:t>教程：https://learnopengl.com</a:t>
            </a:r>
          </a:p>
          <a:p>
            <a:r>
              <a:rPr lang="en-US" altLang="zh-CN" sz="1200"/>
              <a:t>GLSL </a:t>
            </a:r>
            <a:r>
              <a:rPr lang="zh-CN" altLang="en-US" sz="1200"/>
              <a:t>教程：https://www.lighthouse3d.com/tutorials/glsl-tutorial/</a:t>
            </a:r>
          </a:p>
          <a:p>
            <a:pPr marL="0" indent="0">
              <a:buNone/>
            </a:pPr>
            <a:r>
              <a:rPr lang="zh-CN" altLang="en-US" sz="1200" dirty="0">
                <a:sym typeface="+mn-ea"/>
              </a:rPr>
              <a:t>参考书籍：</a:t>
            </a:r>
          </a:p>
          <a:p>
            <a:r>
              <a:rPr lang="en-US" altLang="zh-CN" sz="1200" dirty="0">
                <a:sym typeface="+mn-ea"/>
              </a:rPr>
              <a:t>计算机图形学 / 倪明田，吴良芝编著 北京 : 北京大学出版社, 1999</a:t>
            </a:r>
            <a:endParaRPr lang="en-US" altLang="zh-CN" sz="1200" dirty="0"/>
          </a:p>
          <a:p>
            <a:r>
              <a:rPr sz="1200" dirty="0">
                <a:sym typeface="+mn-ea"/>
              </a:rPr>
              <a:t>Shirley, Peter, Michael Ashikhmin, Steve Marschner. Fundamentals of Computer Graphics. 3rd ed. A K Peters/CRC Press, 2009. ISBN: 9781568814698. </a:t>
            </a:r>
            <a:r>
              <a:rPr lang="en-US" sz="1200" dirty="0">
                <a:sym typeface="+mn-ea"/>
              </a:rPr>
              <a:t>(</a:t>
            </a:r>
            <a:r>
              <a:rPr lang="zh-CN" altLang="en-US" sz="1200" dirty="0">
                <a:sym typeface="+mn-ea"/>
              </a:rPr>
              <a:t>计算机图形学</a:t>
            </a:r>
            <a:r>
              <a:rPr lang="en-US" altLang="zh-CN" sz="1200" dirty="0">
                <a:sym typeface="+mn-ea"/>
              </a:rPr>
              <a:t>/</a:t>
            </a:r>
            <a:r>
              <a:rPr lang="zh-CN" altLang="en-US" sz="1200" dirty="0">
                <a:sym typeface="+mn-ea"/>
              </a:rPr>
              <a:t>虎书</a:t>
            </a:r>
            <a:r>
              <a:rPr lang="en-US" sz="1200" dirty="0">
                <a:sym typeface="+mn-ea"/>
              </a:rPr>
              <a:t>)</a:t>
            </a:r>
            <a:endParaRPr lang="en-US" sz="1200" dirty="0"/>
          </a:p>
          <a:p>
            <a:r>
              <a:rPr lang="en-US" altLang="zh-CN" sz="1200" dirty="0">
                <a:sym typeface="+mn-ea"/>
              </a:rPr>
              <a:t>Buss, Samuel R. 3D Computer Graphics: A Mathematical Introduction with OpenGL. 2003. ISBN: 9780521821032. (3D计算机图形学（OpenGL版）)</a:t>
            </a:r>
            <a:endParaRPr sz="1200" dirty="0"/>
          </a:p>
          <a:p>
            <a:pPr marL="0" indent="0">
              <a:buNone/>
            </a:pPr>
            <a:r>
              <a:rPr lang="zh-CN" sz="1200" dirty="0">
                <a:sym typeface="+mn-ea"/>
              </a:rPr>
              <a:t>参考课程：</a:t>
            </a:r>
            <a:endParaRPr sz="1200" dirty="0"/>
          </a:p>
          <a:p>
            <a:r>
              <a:rPr lang="en-US" altLang="zh-CN" sz="1200" dirty="0">
                <a:sym typeface="+mn-ea"/>
              </a:rPr>
              <a:t>MIT 6.837: </a:t>
            </a:r>
          </a:p>
          <a:p>
            <a:pPr marL="0" indent="0">
              <a:buNone/>
            </a:pPr>
            <a:r>
              <a:rPr lang="en-US" altLang="zh-CN" sz="1200" dirty="0">
                <a:sym typeface="+mn-ea"/>
                <a:hlinkClick r:id="rId2"/>
              </a:rPr>
              <a:t>https://ocw.mit.edu/courses/6-837-computer-graphics-fall-2012/</a:t>
            </a:r>
            <a:endParaRPr lang="en-US" altLang="zh-CN" sz="1200" dirty="0">
              <a:hlinkClick r:id="rId2"/>
            </a:endParaRPr>
          </a:p>
          <a:p>
            <a:r>
              <a:rPr sz="1200" dirty="0">
                <a:sym typeface="+mn-ea"/>
              </a:rPr>
              <a:t>GAMES101: 现代计算机图形学入门</a:t>
            </a:r>
            <a:endParaRPr sz="1200" dirty="0"/>
          </a:p>
          <a:p>
            <a:pPr marL="0" indent="0">
              <a:buNone/>
            </a:pPr>
            <a:r>
              <a:rPr sz="1200" dirty="0">
                <a:sym typeface="+mn-ea"/>
                <a:hlinkClick r:id="rId3" action="ppaction://hlinkfile"/>
              </a:rPr>
              <a:t>https://sites.cs.ucsb.edu/~lingqi/teaching/games101.html</a:t>
            </a:r>
            <a:endParaRPr sz="1200" dirty="0"/>
          </a:p>
          <a:p>
            <a:pPr marL="0" indent="0">
              <a:buNone/>
            </a:pPr>
            <a:endParaRPr lang="zh-CN" alt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2 </a:t>
            </a:r>
            <a:r>
              <a:rPr lang="zh-CN" altLang="en-US" dirty="0"/>
              <a:t>评分细则</a:t>
            </a:r>
          </a:p>
        </p:txBody>
      </p:sp>
      <p:sp>
        <p:nvSpPr>
          <p:cNvPr id="3" name="内容占位符 2"/>
          <p:cNvSpPr>
            <a:spLocks noGrp="1"/>
          </p:cNvSpPr>
          <p:nvPr>
            <p:ph idx="1"/>
          </p:nvPr>
        </p:nvSpPr>
        <p:spPr>
          <a:xfrm>
            <a:off x="838200" y="1691005"/>
            <a:ext cx="10624820" cy="4664710"/>
          </a:xfrm>
        </p:spPr>
        <p:txBody>
          <a:bodyPr/>
          <a:lstStyle/>
          <a:p>
            <a:pPr marL="0" indent="0">
              <a:lnSpc>
                <a:spcPct val="120000"/>
              </a:lnSpc>
              <a:buNone/>
            </a:pPr>
            <a:r>
              <a:rPr lang="zh-CN" altLang="en-US" sz="2000" b="1" dirty="0"/>
              <a:t>项目完成度及正确性</a:t>
            </a:r>
            <a:r>
              <a:rPr lang="zh-CN" altLang="en-US" sz="2000" b="1" dirty="0">
                <a:sym typeface="Wingdings" panose="05000000000000000000" pitchFamily="2" charset="2"/>
              </a:rPr>
              <a:t>：（共计</a:t>
            </a:r>
            <a:r>
              <a:rPr lang="en-US" altLang="zh-CN" sz="2000" b="1" dirty="0">
                <a:sym typeface="Wingdings" panose="05000000000000000000" pitchFamily="2" charset="2"/>
              </a:rPr>
              <a:t>5</a:t>
            </a:r>
            <a:r>
              <a:rPr lang="zh-CN" altLang="en-US" sz="2000" b="1" dirty="0">
                <a:sym typeface="Wingdings" panose="05000000000000000000" pitchFamily="2" charset="2"/>
              </a:rPr>
              <a:t>分）</a:t>
            </a:r>
            <a:endParaRPr lang="en-US" altLang="zh-CN" sz="2000" b="1" dirty="0"/>
          </a:p>
          <a:p>
            <a:pPr marL="0" indent="0">
              <a:lnSpc>
                <a:spcPct val="120000"/>
              </a:lnSpc>
              <a:buNone/>
            </a:pPr>
            <a:r>
              <a:rPr lang="en-US" altLang="zh-CN" sz="2000" dirty="0"/>
              <a:t>1. </a:t>
            </a:r>
            <a:r>
              <a:rPr lang="zh-CN" altLang="en-US" sz="2000" dirty="0"/>
              <a:t>光线投射：正确编译并输出</a:t>
            </a:r>
            <a:r>
              <a:rPr lang="en-US" altLang="zh-CN" sz="2000" dirty="0"/>
              <a:t>Scene 1-5 </a:t>
            </a:r>
            <a:r>
              <a:rPr lang="zh-CN" altLang="en-US" sz="2000" dirty="0"/>
              <a:t>的结果</a:t>
            </a:r>
            <a:r>
              <a:rPr lang="zh-CN" altLang="en-US" sz="2000" b="1" dirty="0">
                <a:solidFill>
                  <a:srgbClr val="FF0000"/>
                </a:solidFill>
              </a:rPr>
              <a:t>（必做，</a:t>
            </a:r>
            <a:r>
              <a:rPr lang="zh-CN" altLang="en-US" sz="2000" b="1" dirty="0">
                <a:solidFill>
                  <a:srgbClr val="FF0000"/>
                </a:solidFill>
                <a:sym typeface="+mn-ea"/>
              </a:rPr>
              <a:t>每个样例正确显示得</a:t>
            </a:r>
            <a:r>
              <a:rPr lang="en-US" altLang="zh-CN" sz="2000" b="1" dirty="0">
                <a:solidFill>
                  <a:srgbClr val="FF0000"/>
                </a:solidFill>
                <a:sym typeface="+mn-ea"/>
              </a:rPr>
              <a:t>0.6</a:t>
            </a:r>
            <a:r>
              <a:rPr lang="zh-CN" altLang="en-US" sz="2000" b="1" dirty="0">
                <a:solidFill>
                  <a:srgbClr val="FF0000"/>
                </a:solidFill>
                <a:sym typeface="+mn-ea"/>
              </a:rPr>
              <a:t>分，</a:t>
            </a:r>
            <a:r>
              <a:rPr lang="zh-CN" altLang="en-US" sz="2000" b="1" dirty="0">
                <a:solidFill>
                  <a:srgbClr val="FF0000"/>
                </a:solidFill>
              </a:rPr>
              <a:t>共计</a:t>
            </a:r>
            <a:r>
              <a:rPr lang="en-US" altLang="zh-CN" sz="2000" b="1" dirty="0">
                <a:solidFill>
                  <a:srgbClr val="FF0000"/>
                </a:solidFill>
              </a:rPr>
              <a:t>3</a:t>
            </a:r>
            <a:r>
              <a:rPr lang="zh-CN" altLang="en-US" sz="2000" b="1" dirty="0">
                <a:solidFill>
                  <a:srgbClr val="FF0000"/>
                </a:solidFill>
              </a:rPr>
              <a:t>分）</a:t>
            </a:r>
            <a:endParaRPr lang="en-US" altLang="zh-CN" sz="2000" b="1" dirty="0">
              <a:solidFill>
                <a:srgbClr val="FF0000"/>
              </a:solidFill>
            </a:endParaRPr>
          </a:p>
          <a:p>
            <a:pPr marL="0" indent="0">
              <a:lnSpc>
                <a:spcPct val="120000"/>
              </a:lnSpc>
              <a:buNone/>
            </a:pPr>
            <a:r>
              <a:rPr lang="en-US" altLang="zh-CN" sz="2000" dirty="0"/>
              <a:t>2. </a:t>
            </a:r>
            <a:r>
              <a:rPr lang="zh-CN" altLang="en-US" sz="2000" dirty="0"/>
              <a:t>光线追踪与阴影：正确</a:t>
            </a:r>
            <a:r>
              <a:rPr lang="zh-CN" altLang="en-US" sz="2000" dirty="0">
                <a:sym typeface="+mn-ea"/>
              </a:rPr>
              <a:t>编译并输出</a:t>
            </a:r>
            <a:r>
              <a:rPr lang="en-US" altLang="zh-CN" sz="2000" dirty="0">
                <a:sym typeface="+mn-ea"/>
              </a:rPr>
              <a:t>Scene 6-7</a:t>
            </a:r>
            <a:r>
              <a:rPr lang="zh-CN" altLang="en-US" sz="2000" dirty="0">
                <a:sym typeface="+mn-ea"/>
              </a:rPr>
              <a:t>的结果</a:t>
            </a:r>
            <a:r>
              <a:rPr lang="zh-CN" altLang="en-US" sz="2000" dirty="0">
                <a:solidFill>
                  <a:schemeClr val="tx1"/>
                </a:solidFill>
                <a:sym typeface="+mn-ea"/>
              </a:rPr>
              <a:t>（每个样例正确显示得</a:t>
            </a:r>
            <a:r>
              <a:rPr lang="en-US" altLang="zh-CN" sz="2000" dirty="0">
                <a:solidFill>
                  <a:schemeClr val="tx1"/>
                </a:solidFill>
                <a:sym typeface="+mn-ea"/>
              </a:rPr>
              <a:t>0.5</a:t>
            </a:r>
            <a:r>
              <a:rPr lang="zh-CN" altLang="en-US" sz="2000" dirty="0">
                <a:solidFill>
                  <a:schemeClr val="tx1"/>
                </a:solidFill>
                <a:sym typeface="+mn-ea"/>
              </a:rPr>
              <a:t>分，共计</a:t>
            </a:r>
            <a:r>
              <a:rPr lang="en-US" altLang="zh-CN" sz="2000" dirty="0">
                <a:solidFill>
                  <a:schemeClr val="tx1"/>
                </a:solidFill>
                <a:sym typeface="+mn-ea"/>
              </a:rPr>
              <a:t>1</a:t>
            </a:r>
            <a:r>
              <a:rPr lang="zh-CN" altLang="en-US" sz="2000" dirty="0">
                <a:solidFill>
                  <a:schemeClr val="tx1"/>
                </a:solidFill>
                <a:sym typeface="+mn-ea"/>
              </a:rPr>
              <a:t>分）</a:t>
            </a:r>
            <a:endParaRPr lang="en-US" altLang="zh-CN" sz="2000" dirty="0"/>
          </a:p>
          <a:p>
            <a:pPr marL="0" indent="0">
              <a:lnSpc>
                <a:spcPct val="120000"/>
              </a:lnSpc>
              <a:buNone/>
            </a:pPr>
            <a:r>
              <a:rPr lang="en-US" altLang="zh-CN" sz="2000" dirty="0"/>
              <a:t>3. </a:t>
            </a:r>
            <a:r>
              <a:rPr lang="zh-CN" altLang="en-US" sz="2000" dirty="0"/>
              <a:t>解决锯齿问题：添加抖动采样和滤波器来缓解锯齿问题（选做，共计</a:t>
            </a:r>
            <a:r>
              <a:rPr lang="en-US" altLang="zh-CN" sz="2000" dirty="0"/>
              <a:t>1</a:t>
            </a:r>
            <a:r>
              <a:rPr lang="zh-CN" altLang="en-US" sz="2000" dirty="0"/>
              <a:t>分）</a:t>
            </a:r>
            <a:endParaRPr lang="en-US" altLang="zh-CN" sz="2000" dirty="0"/>
          </a:p>
          <a:p>
            <a:pPr marL="0" indent="0">
              <a:lnSpc>
                <a:spcPct val="120000"/>
              </a:lnSpc>
              <a:buNone/>
            </a:pPr>
            <a:endParaRPr lang="en-US" altLang="zh-CN" sz="2000" dirty="0"/>
          </a:p>
          <a:p>
            <a:pPr marL="0" indent="0">
              <a:lnSpc>
                <a:spcPct val="120000"/>
              </a:lnSpc>
              <a:buNone/>
            </a:pPr>
            <a:r>
              <a:rPr lang="zh-CN" altLang="en-US" sz="2000" b="1" dirty="0"/>
              <a:t>项目报告</a:t>
            </a:r>
            <a:r>
              <a:rPr lang="zh-CN" altLang="en-US" sz="2000" b="1" dirty="0">
                <a:sym typeface="Wingdings" panose="05000000000000000000" pitchFamily="2" charset="2"/>
              </a:rPr>
              <a:t>：（共计</a:t>
            </a:r>
            <a:r>
              <a:rPr lang="en-US" altLang="zh-CN" sz="2000" b="1" dirty="0">
                <a:sym typeface="Wingdings" panose="05000000000000000000" pitchFamily="2" charset="2"/>
              </a:rPr>
              <a:t>5</a:t>
            </a:r>
            <a:r>
              <a:rPr lang="zh-CN" altLang="en-US" sz="2000" b="1" dirty="0">
                <a:sym typeface="Wingdings" panose="05000000000000000000" pitchFamily="2" charset="2"/>
              </a:rPr>
              <a:t>分）</a:t>
            </a:r>
            <a:endParaRPr lang="en-US" altLang="zh-CN" sz="2000" b="1" dirty="0"/>
          </a:p>
          <a:p>
            <a:pPr marL="0" indent="0">
              <a:lnSpc>
                <a:spcPct val="120000"/>
              </a:lnSpc>
              <a:buNone/>
            </a:pPr>
            <a:r>
              <a:rPr lang="zh-CN" altLang="en-US" sz="2000" dirty="0"/>
              <a:t>撰写项目报告，</a:t>
            </a:r>
            <a:r>
              <a:rPr lang="zh-CN" altLang="en-US" sz="2000" b="1" dirty="0">
                <a:solidFill>
                  <a:srgbClr val="FF0000"/>
                </a:solidFill>
                <a:sym typeface="+mn-ea"/>
              </a:rPr>
              <a:t>附上所有生成的图形的截图（报告中请尽量使用高分辨率图像）</a:t>
            </a:r>
            <a:r>
              <a:rPr lang="zh-CN" altLang="en-US" sz="2000" dirty="0"/>
              <a:t>，详细说明</a:t>
            </a:r>
            <a:r>
              <a:rPr lang="zh-CN" altLang="en-US" sz="2000" dirty="0">
                <a:sym typeface="+mn-ea"/>
              </a:rPr>
              <a:t>光线投射</a:t>
            </a:r>
            <a:r>
              <a:rPr lang="zh-CN" altLang="en-US" sz="2000" dirty="0"/>
              <a:t>，光线追踪以及抗锯齿问题的解决方式</a:t>
            </a:r>
            <a:r>
              <a:rPr lang="zh-CN" altLang="en-US" sz="2000" b="1" dirty="0">
                <a:solidFill>
                  <a:srgbClr val="FF0000"/>
                </a:solidFill>
              </a:rPr>
              <a:t>（必做，</a:t>
            </a:r>
            <a:r>
              <a:rPr lang="en-US" altLang="zh-CN" sz="2000" b="1" dirty="0">
                <a:solidFill>
                  <a:srgbClr val="FF0000"/>
                </a:solidFill>
              </a:rPr>
              <a:t>5</a:t>
            </a:r>
            <a:r>
              <a:rPr lang="zh-CN" altLang="en-US" sz="2000" b="1" dirty="0">
                <a:solidFill>
                  <a:srgbClr val="FF0000"/>
                </a:solidFill>
              </a:rPr>
              <a:t>分）</a:t>
            </a:r>
            <a:endParaRPr lang="en-US" altLang="zh-CN" sz="2000" dirty="0"/>
          </a:p>
          <a:p>
            <a:pPr marL="0" indent="0">
              <a:buNone/>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2 </a:t>
            </a:r>
            <a:r>
              <a:rPr lang="zh-CN" altLang="en-US" dirty="0"/>
              <a:t>提交方式</a:t>
            </a:r>
          </a:p>
        </p:txBody>
      </p:sp>
      <p:sp>
        <p:nvSpPr>
          <p:cNvPr id="3" name="内容占位符 2"/>
          <p:cNvSpPr>
            <a:spLocks noGrp="1"/>
          </p:cNvSpPr>
          <p:nvPr>
            <p:ph idx="1"/>
          </p:nvPr>
        </p:nvSpPr>
        <p:spPr>
          <a:xfrm>
            <a:off x="838200" y="1825625"/>
            <a:ext cx="9697085" cy="4398010"/>
          </a:xfrm>
        </p:spPr>
        <p:txBody>
          <a:bodyPr>
            <a:normAutofit fontScale="75000" lnSpcReduction="20000"/>
          </a:bodyPr>
          <a:lstStyle/>
          <a:p>
            <a:pPr>
              <a:lnSpc>
                <a:spcPct val="120000"/>
              </a:lnSpc>
            </a:pPr>
            <a:r>
              <a:rPr lang="zh-CN" altLang="en-US" dirty="0">
                <a:sym typeface="+mn-ea"/>
              </a:rPr>
              <a:t>可编译项目代码以及</a:t>
            </a:r>
            <a:r>
              <a:rPr lang="en-US" altLang="zh-CN" dirty="0">
                <a:sym typeface="+mn-ea"/>
              </a:rPr>
              <a:t>Linux</a:t>
            </a:r>
            <a:r>
              <a:rPr lang="zh-CN" altLang="en-US" dirty="0">
                <a:sym typeface="+mn-ea"/>
              </a:rPr>
              <a:t>编译程序（</a:t>
            </a:r>
            <a:r>
              <a:rPr lang="en-US" altLang="zh-CN" dirty="0">
                <a:sym typeface="+mn-ea"/>
              </a:rPr>
              <a:t>starter2</a:t>
            </a:r>
            <a:r>
              <a:rPr lang="zh-CN" altLang="en-US" dirty="0">
                <a:sym typeface="+mn-ea"/>
              </a:rPr>
              <a:t>文件夹）及</a:t>
            </a:r>
            <a:r>
              <a:rPr lang="en-US" altLang="zh-CN" dirty="0">
                <a:sym typeface="+mn-ea"/>
              </a:rPr>
              <a:t>Project2</a:t>
            </a:r>
            <a:r>
              <a:rPr lang="zh-CN" altLang="en-US" dirty="0">
                <a:sym typeface="+mn-ea"/>
              </a:rPr>
              <a:t>报告（</a:t>
            </a:r>
            <a:r>
              <a:rPr lang="en-US" altLang="zh-CN" dirty="0">
                <a:sym typeface="+mn-ea"/>
              </a:rPr>
              <a:t>PDF</a:t>
            </a:r>
            <a:r>
              <a:rPr lang="zh-CN" altLang="en-US" dirty="0">
                <a:sym typeface="+mn-ea"/>
              </a:rPr>
              <a:t>）请打包（</a:t>
            </a:r>
            <a:r>
              <a:rPr lang="en-US" altLang="zh-CN" dirty="0">
                <a:sym typeface="+mn-ea"/>
              </a:rPr>
              <a:t>zip</a:t>
            </a:r>
            <a:r>
              <a:rPr lang="zh-CN" altLang="en-US" dirty="0">
                <a:sym typeface="+mn-ea"/>
              </a:rPr>
              <a:t>）并上传</a:t>
            </a:r>
            <a:r>
              <a:rPr lang="en-US" altLang="zh-CN" dirty="0">
                <a:sym typeface="+mn-ea"/>
              </a:rPr>
              <a:t>Elearning</a:t>
            </a:r>
            <a:endParaRPr lang="en-US" altLang="zh-CN" dirty="0"/>
          </a:p>
          <a:p>
            <a:pPr>
              <a:lnSpc>
                <a:spcPct val="120000"/>
              </a:lnSpc>
            </a:pPr>
            <a:r>
              <a:rPr lang="zh-CN" altLang="en-US" dirty="0">
                <a:sym typeface="+mn-ea"/>
              </a:rPr>
              <a:t>邮件</a:t>
            </a:r>
            <a:r>
              <a:rPr lang="en-US" altLang="zh-CN" dirty="0">
                <a:sym typeface="+mn-ea"/>
              </a:rPr>
              <a:t>/</a:t>
            </a:r>
            <a:r>
              <a:rPr lang="zh-CN" altLang="en-US" dirty="0">
                <a:sym typeface="+mn-ea"/>
              </a:rPr>
              <a:t>压缩包标题：</a:t>
            </a:r>
            <a:r>
              <a:rPr lang="en-US" altLang="zh-CN" dirty="0">
                <a:cs typeface="等线" panose="02010600030101010101" charset="-122"/>
                <a:sym typeface="+mn-ea"/>
              </a:rPr>
              <a:t>2026</a:t>
            </a:r>
            <a:r>
              <a:rPr lang="zh-CN" altLang="en-US" dirty="0">
                <a:cs typeface="等线" panose="02010600030101010101" charset="-122"/>
                <a:sym typeface="+mn-ea"/>
              </a:rPr>
              <a:t>图形学</a:t>
            </a:r>
            <a:r>
              <a:rPr lang="en-US" altLang="zh-CN" dirty="0">
                <a:sym typeface="+mn-ea"/>
              </a:rPr>
              <a:t>PJ2 </a:t>
            </a:r>
            <a:r>
              <a:rPr lang="zh-CN" altLang="en-US" dirty="0">
                <a:sym typeface="+mn-ea"/>
              </a:rPr>
              <a:t>姓名</a:t>
            </a:r>
            <a:r>
              <a:rPr lang="en-US" altLang="zh-CN" dirty="0">
                <a:sym typeface="+mn-ea"/>
              </a:rPr>
              <a:t>1 </a:t>
            </a:r>
            <a:r>
              <a:rPr lang="zh-CN" altLang="en-US" dirty="0">
                <a:sym typeface="+mn-ea"/>
              </a:rPr>
              <a:t>姓名</a:t>
            </a:r>
            <a:r>
              <a:rPr lang="en-US" altLang="zh-CN" dirty="0">
                <a:sym typeface="+mn-ea"/>
              </a:rPr>
              <a:t>2</a:t>
            </a:r>
            <a:endParaRPr lang="en-US" altLang="zh-CN" dirty="0"/>
          </a:p>
          <a:p>
            <a:pPr>
              <a:lnSpc>
                <a:spcPct val="120000"/>
              </a:lnSpc>
            </a:pPr>
            <a:r>
              <a:rPr lang="zh-CN" altLang="en-US" b="1" dirty="0">
                <a:solidFill>
                  <a:srgbClr val="FF0000"/>
                </a:solidFill>
              </a:rPr>
              <a:t>项目报告</a:t>
            </a:r>
            <a:r>
              <a:rPr lang="en-US" altLang="zh-CN" b="1" dirty="0">
                <a:solidFill>
                  <a:srgbClr val="FF0000"/>
                </a:solidFill>
              </a:rPr>
              <a:t>DD</a:t>
            </a:r>
            <a:r>
              <a:rPr lang="zh-CN" altLang="en-US" b="1" dirty="0">
                <a:solidFill>
                  <a:srgbClr val="FF0000"/>
                </a:solidFill>
              </a:rPr>
              <a:t>L: 202</a:t>
            </a:r>
            <a:r>
              <a:rPr lang="en-US" altLang="zh-CN" b="1" dirty="0">
                <a:solidFill>
                  <a:srgbClr val="FF0000"/>
                </a:solidFill>
              </a:rPr>
              <a:t>6</a:t>
            </a:r>
            <a:r>
              <a:rPr lang="zh-CN" altLang="en-US" b="1" dirty="0">
                <a:solidFill>
                  <a:srgbClr val="FF0000"/>
                </a:solidFill>
              </a:rPr>
              <a:t>年5月</a:t>
            </a:r>
            <a:r>
              <a:rPr lang="en-US" altLang="zh-CN" b="1" dirty="0">
                <a:solidFill>
                  <a:srgbClr val="FF0000"/>
                </a:solidFill>
              </a:rPr>
              <a:t>7</a:t>
            </a:r>
            <a:r>
              <a:rPr lang="zh-CN" altLang="en-US" b="1" dirty="0">
                <a:solidFill>
                  <a:srgbClr val="FF0000"/>
                </a:solidFill>
              </a:rPr>
              <a:t>日中午11:59</a:t>
            </a:r>
          </a:p>
          <a:p>
            <a:pPr>
              <a:lnSpc>
                <a:spcPct val="120000"/>
              </a:lnSpc>
            </a:pPr>
            <a:endParaRPr lang="en-US" altLang="zh-CN" dirty="0"/>
          </a:p>
          <a:p>
            <a:pPr>
              <a:lnSpc>
                <a:spcPct val="120000"/>
              </a:lnSpc>
            </a:pPr>
            <a:r>
              <a:rPr lang="zh-CN" altLang="en-US" dirty="0"/>
              <a:t>若对</a:t>
            </a:r>
            <a:r>
              <a:rPr lang="en-US" altLang="zh-CN" dirty="0"/>
              <a:t>Project</a:t>
            </a:r>
            <a:r>
              <a:rPr lang="zh-CN" altLang="en-US" dirty="0"/>
              <a:t>有疑问，</a:t>
            </a:r>
            <a:r>
              <a:rPr lang="zh-CN" altLang="en-US" dirty="0">
                <a:sym typeface="+mn-ea"/>
              </a:rPr>
              <a:t>可</a:t>
            </a:r>
            <a:r>
              <a:rPr lang="zh-CN" altLang="en-US" dirty="0"/>
              <a:t>邮件</a:t>
            </a:r>
            <a:r>
              <a:rPr lang="en-US" altLang="zh-CN" dirty="0"/>
              <a:t>/</a:t>
            </a:r>
            <a:r>
              <a:rPr lang="zh-CN" altLang="en-US" dirty="0"/>
              <a:t>微信与</a:t>
            </a:r>
            <a:r>
              <a:rPr lang="en-US" altLang="zh-CN" dirty="0"/>
              <a:t>TA</a:t>
            </a:r>
            <a:r>
              <a:rPr lang="zh-CN" altLang="en-US" dirty="0"/>
              <a:t>联系</a:t>
            </a:r>
            <a:endParaRPr lang="en-US" altLang="zh-CN" dirty="0"/>
          </a:p>
          <a:p>
            <a:pPr>
              <a:lnSpc>
                <a:spcPct val="120000"/>
              </a:lnSpc>
            </a:pPr>
            <a:r>
              <a:rPr lang="en-US" altLang="zh-CN" dirty="0"/>
              <a:t>TA</a:t>
            </a:r>
            <a:r>
              <a:rPr lang="zh-CN" altLang="en-US" dirty="0"/>
              <a:t>办公地址：江湾校区交叉学科</a:t>
            </a:r>
            <a:r>
              <a:rPr lang="en-US" altLang="zh-CN" dirty="0"/>
              <a:t>2</a:t>
            </a:r>
            <a:r>
              <a:rPr lang="zh-CN" altLang="en-US" dirty="0"/>
              <a:t>号楼</a:t>
            </a:r>
            <a:r>
              <a:rPr lang="en-US" altLang="zh-CN" dirty="0"/>
              <a:t>A4008</a:t>
            </a:r>
            <a:r>
              <a:rPr lang="zh-CN" altLang="en-US" dirty="0"/>
              <a:t>室</a:t>
            </a:r>
            <a:endParaRPr lang="en-US" altLang="zh-CN" dirty="0"/>
          </a:p>
          <a:p>
            <a:pPr>
              <a:lnSpc>
                <a:spcPct val="120000"/>
              </a:lnSpc>
            </a:pPr>
            <a:endParaRPr lang="en-US" altLang="zh-CN" dirty="0"/>
          </a:p>
          <a:p>
            <a:pPr>
              <a:lnSpc>
                <a:spcPct val="120000"/>
              </a:lnSpc>
            </a:pPr>
            <a:r>
              <a:rPr lang="zh-CN" altLang="en-US" b="1" dirty="0">
                <a:solidFill>
                  <a:srgbClr val="FF0000"/>
                </a:solidFill>
              </a:rPr>
              <a:t>严禁抄袭，包括网络上和同学的代码，一经发现</a:t>
            </a:r>
            <a:r>
              <a:rPr lang="en-US" altLang="zh-CN" b="1" dirty="0">
                <a:solidFill>
                  <a:srgbClr val="FF0000"/>
                </a:solidFill>
              </a:rPr>
              <a:t>Project</a:t>
            </a:r>
            <a:r>
              <a:rPr lang="zh-CN" altLang="en-US" b="1" dirty="0">
                <a:solidFill>
                  <a:srgbClr val="FF0000"/>
                </a:solidFill>
              </a:rPr>
              <a:t>作</a:t>
            </a:r>
            <a:r>
              <a:rPr lang="en-US" altLang="zh-CN" b="1" dirty="0">
                <a:solidFill>
                  <a:srgbClr val="FF0000"/>
                </a:solidFill>
              </a:rPr>
              <a:t>0</a:t>
            </a:r>
            <a:r>
              <a:rPr lang="zh-CN" altLang="en-US" b="1" dirty="0">
                <a:solidFill>
                  <a:srgbClr val="FF0000"/>
                </a:solidFill>
              </a:rPr>
              <a:t>分处理</a:t>
            </a:r>
          </a:p>
          <a:p>
            <a:pPr>
              <a:lnSpc>
                <a:spcPct val="120000"/>
              </a:lnSpc>
            </a:pPr>
            <a:r>
              <a:rPr lang="zh-CN" altLang="en-US" b="1" dirty="0">
                <a:solidFill>
                  <a:srgbClr val="FF0000"/>
                </a:solidFill>
              </a:rPr>
              <a:t>只实现必做功能也一定可以顺利通过，不要铤而走险</a:t>
            </a:r>
            <a:r>
              <a:rPr lang="zh-CN" altLang="en-US" b="1" dirty="0">
                <a:solidFill>
                  <a:srgbClr val="FF0000"/>
                </a:solidFill>
                <a:sym typeface="+mn-ea"/>
              </a:rPr>
              <a:t>，迟交会酌情扣分</a:t>
            </a:r>
            <a:endParaRPr lang="zh-CN" altLang="en-US" b="1" dirty="0">
              <a:solidFill>
                <a:srgbClr val="FF0000"/>
              </a:solidFill>
            </a:endParaRPr>
          </a:p>
          <a:p>
            <a:pPr>
              <a:lnSpc>
                <a:spcPct val="120000"/>
              </a:lnSpc>
            </a:pP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liMWFhZmVkMTI5Y2ZlNTUwN2Q1NDEzOTc2MWMwOTAifQ=="/>
  <p:tag name="KSO_WPP_MARK_KEY" val="8192b265-5bd9-4a1f-b436-f09f473152d4"/>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12,&quot;width&quot;:5612}"/>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461,&quot;width&quot;:6461}"/>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461,&quot;width&quot;:6461}"/>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1962</TotalTime>
  <Words>3917</Words>
  <Application>Microsoft Office PowerPoint</Application>
  <PresentationFormat>宽屏</PresentationFormat>
  <Paragraphs>229</Paragraphs>
  <Slides>30</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30</vt:i4>
      </vt:variant>
    </vt:vector>
  </HeadingPairs>
  <TitlesOfParts>
    <vt:vector size="35" baseType="lpstr">
      <vt:lpstr>等线</vt:lpstr>
      <vt:lpstr>Arial</vt:lpstr>
      <vt:lpstr>Calibri</vt:lpstr>
      <vt:lpstr>Wingdings</vt:lpstr>
      <vt:lpstr>Office 主题</vt:lpstr>
      <vt:lpstr> 计算机图形学  课程Project说明</vt:lpstr>
      <vt:lpstr>简介</vt:lpstr>
      <vt:lpstr>Project 2 光照模型与光线追踪</vt:lpstr>
      <vt:lpstr>Project 2 代码框架</vt:lpstr>
      <vt:lpstr>Project 2 代码框架</vt:lpstr>
      <vt:lpstr>Project 2 代码框架</vt:lpstr>
      <vt:lpstr>Project 2 代码框架</vt:lpstr>
      <vt:lpstr>Project 2.1 Phong光照模型</vt:lpstr>
      <vt:lpstr>Project 2.1 Phong光照模型</vt:lpstr>
      <vt:lpstr>Project 2.1 Phong光照模型</vt:lpstr>
      <vt:lpstr>Project 2.1 Phong光照模型</vt:lpstr>
      <vt:lpstr>Project 2.1 Phong光照模型</vt:lpstr>
      <vt:lpstr>Project 2.1 Phong光照模型</vt:lpstr>
      <vt:lpstr>Project 2.1 Phong光照模型</vt:lpstr>
      <vt:lpstr>Project 2.2 光线投射</vt:lpstr>
      <vt:lpstr>Project 2.2 光线投射</vt:lpstr>
      <vt:lpstr>Project 2.2 光线投射</vt:lpstr>
      <vt:lpstr>Project 2.2 光线投射</vt:lpstr>
      <vt:lpstr>Project 2.2 光线投射</vt:lpstr>
      <vt:lpstr>Project 2.2 光线投射</vt:lpstr>
      <vt:lpstr>Project 2.3 光线追踪与阴影投射</vt:lpstr>
      <vt:lpstr>Project 2.3 光线追踪与阴影投射</vt:lpstr>
      <vt:lpstr>Project 2.3 光线追踪与阴影投射</vt:lpstr>
      <vt:lpstr>Project 2 拓展 - 抗锯齿的问题</vt:lpstr>
      <vt:lpstr>Project 2 拓展 - 抗锯齿的问题</vt:lpstr>
      <vt:lpstr>Project 2 拓展 - 抗锯齿的问题</vt:lpstr>
      <vt:lpstr>Project 2 提示</vt:lpstr>
      <vt:lpstr>Project 2 参考资料</vt:lpstr>
      <vt:lpstr>Project 2 评分细则</vt:lpstr>
      <vt:lpstr>Project 2 提交方式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dayi</dc:creator>
  <cp:lastModifiedBy>Arden Dengdeng</cp:lastModifiedBy>
  <cp:revision>404</cp:revision>
  <dcterms:created xsi:type="dcterms:W3CDTF">2025-04-09T11:20:00Z</dcterms:created>
  <dcterms:modified xsi:type="dcterms:W3CDTF">2026-05-01T04:44:11Z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CB615BD6D4474278A0758ECFCE780D3D_13</vt:lpwstr>
  </property>
  <property fmtid="{D5CDD505-2E9C-101B-9397-08002B2CF9AE}" pid="3" name="KSOProductBuildVer">
    <vt:lpwstr>2052-12.1.0.20305</vt:lpwstr>
  </property>
</Properties>
</file>